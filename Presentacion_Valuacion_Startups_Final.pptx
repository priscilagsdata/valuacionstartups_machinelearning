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9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Fuente: notebook Trabajo_Final_Startups_Notebook(3).ipynb. Imagen de portada generada para esta presentación.</a:t>
            </a: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200"/>
              <a:t>Fuente: formulación del problema en la notebook suministrada. Mantener la distinción entre asociación y causalidad durante la defensa.</a:t>
            </a:r>
            <a:endParaRPr/>
          </a:p>
        </p:txBody>
      </p:sp>
      <p:sp>
        <p:nvSpPr>
          <p:cNvPr id="29" name="Google Shape;29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200"/>
              <a:t>Fuente: celdas 7 a 9 de la notebook. AI_Adoption_Level presenta 2.529 valores faltantes. No hay filas duplicadas.</a:t>
            </a:r>
            <a:endParaRPr/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200"/>
              <a:t>Fuente: estructura metodológica y variables de la notebook. La presentación prioriza el flujo principal; clustering queda como análisis complementario.</a:t>
            </a:r>
            <a:endParaRPr/>
          </a:p>
        </p:txBody>
      </p:sp>
      <p:sp>
        <p:nvSpPr>
          <p:cNvPr id="74" name="Google Shape;74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200"/>
              <a:t>Fuente: conteos de variables categóricas en la notebook, celdas 11, 17 y 18. Porcentajes calculados sobre 25.000 startups.</a:t>
            </a:r>
            <a:endParaRPr/>
          </a:p>
        </p:txBody>
      </p:sp>
      <p:sp>
        <p:nvSpPr>
          <p:cNvPr id="111" name="Google Shape;111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200"/>
              <a:t>Fuente: Funding_Stage, celdas 11, 19 y 28. Seed + Series A = 14.955 registros, equivalentes al 59,82%.</a:t>
            </a:r>
            <a:endParaRPr/>
          </a:p>
        </p:txBody>
      </p:sp>
      <p:sp>
        <p:nvSpPr>
          <p:cNvPr id="126" name="Google Shape;126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200"/>
              <a:t>Fuente: mediana de Valuation_USD_Millions por Funding_Stage, celda 28. El patrón es descriptivo y no implica causalidad.</a:t>
            </a:r>
            <a:endParaRPr/>
          </a:p>
        </p:txBody>
      </p:sp>
      <p:sp>
        <p:nvSpPr>
          <p:cNvPr id="141" name="Google Shape;141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200"/>
              <a:t>Fuente: medianas por Domain y Country, celdas 27 y 29. India tiene la mayor mediana por país (USD 81,74 M) y Singapur la menor (USD 62,10 M).</a:t>
            </a:r>
            <a:endParaRPr/>
          </a:p>
        </p:txBody>
      </p:sp>
      <p:sp>
        <p:nvSpPr>
          <p:cNvPr id="158" name="Google Shape;158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200"/>
              <a:t>Fuente: correlaciones de Spearman, celda 31. Funding 0,9596; ARR 0,9426; burn rate 0,812; founding year 0,009.</a:t>
            </a:r>
            <a:endParaRPr/>
          </a:p>
        </p:txBody>
      </p:sp>
      <p:sp>
        <p:nvSpPr>
          <p:cNvPr id="175" name="Google Shape;175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200"/>
              <a:t>Fuente: pipeline de modelado, celdas 39 a 42. RF = Random Forest; GB = Gradient Boosting. La notebook incluye Dummy como baseline.</a:t>
            </a:r>
            <a:endParaRPr/>
          </a:p>
        </p:txBody>
      </p:sp>
      <p:sp>
        <p:nvSpPr>
          <p:cNvPr id="193" name="Google Shape;193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200"/>
              <a:t>Fuente: comparación de modelos, celda 42. Gradient Boosting: R² log 0,972993; R² original 0,874214; MAE 111,266 M; RMSE 768,105 M.</a:t>
            </a:r>
            <a:endParaRPr/>
          </a:p>
        </p:txBody>
      </p:sp>
      <p:sp>
        <p:nvSpPr>
          <p:cNvPr id="232" name="Google Shape;232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200"/>
              <a:t>Fuente: validación cruzada y gráfico real vs. predicho, celdas 45 y 47. Cinco folds con media 0,9735 y desvío 0,0005.</a:t>
            </a:r>
            <a:endParaRPr/>
          </a:p>
        </p:txBody>
      </p:sp>
      <p:sp>
        <p:nvSpPr>
          <p:cNvPr id="249" name="Google Shape;249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200"/>
              <a:t>Fuente: resumen final y limitaciones de la notebook. Cerrar enfatizando que el análisis es útil para reconocer patrones, no para establecer causas.</a:t>
            </a:r>
            <a:endParaRPr/>
          </a:p>
        </p:txBody>
      </p:sp>
      <p:sp>
        <p:nvSpPr>
          <p:cNvPr id="282" name="Google Shape;282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silvina-cecilia-paredes-703aa33a/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linkedin.com/in/maldonadovanes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in/priscilagsidoliiq" TargetMode="External"/><Relationship Id="rId5" Type="http://schemas.openxmlformats.org/officeDocument/2006/relationships/hyperlink" Target="https://www.linkedin.com/in/luciana-ag%C3%BCero-0a19082a8" TargetMode="External"/><Relationship Id="rId4" Type="http://schemas.openxmlformats.org/officeDocument/2006/relationships/hyperlink" Target="https://www.kaggle.com/datasets/saitejabandaruin/global-tech-startups-pipeline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3">
            <a:alphaModFix/>
          </a:blip>
          <a:srcRect t="27" b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0" y="0"/>
            <a:ext cx="5810250" cy="6858000"/>
          </a:xfrm>
          <a:prstGeom prst="rect">
            <a:avLst/>
          </a:prstGeom>
          <a:solidFill>
            <a:srgbClr val="08102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47700" y="864108"/>
            <a:ext cx="4953000" cy="233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ES" sz="32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¿Qué hace valiosa a una startup tecnológica?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85800" y="2744978"/>
            <a:ext cx="44767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0" i="0" u="none" strike="noStrike" cap="none">
                <a:solidFill>
                  <a:srgbClr val="E9E6F2"/>
                </a:solidFill>
                <a:latin typeface="Verdana"/>
                <a:ea typeface="Verdana"/>
                <a:cs typeface="Verdana"/>
                <a:sym typeface="Verdana"/>
              </a:rPr>
              <a:t>Análisis exploratorio y predicción de la valuación</a:t>
            </a:r>
            <a:endParaRPr sz="1600" b="0" i="0" u="none" strike="noStrike" cap="none">
              <a:solidFill>
                <a:srgbClr val="E9E6F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85800" y="3560826"/>
            <a:ext cx="952500" cy="5715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85800" y="3780536"/>
            <a:ext cx="4000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ES" sz="1350" b="0" i="0" u="none" strike="noStrike" cap="none">
                <a:solidFill>
                  <a:srgbClr val="C9C6D6"/>
                </a:solidFill>
                <a:latin typeface="Verdana"/>
                <a:ea typeface="Verdana"/>
                <a:cs typeface="Verdana"/>
                <a:sym typeface="Verdana"/>
              </a:rPr>
              <a:t>Trabajo final de Ciencia de Datos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85800" y="4206240"/>
            <a:ext cx="4000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sz="1300" b="1">
                <a:solidFill>
                  <a:srgbClr val="FF9F84"/>
                </a:solidFill>
                <a:latin typeface="Aptos"/>
              </a:rPr>
              <a:t>25.000 startups globales · dataset sintético</a:t>
            </a:r>
            <a:endParaRPr sz="1350" b="1" i="0" u="none" strike="noStrike" cap="none">
              <a:solidFill>
                <a:srgbClr val="F2A58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49224" y="4983480"/>
            <a:ext cx="11073384" cy="1005840"/>
          </a:xfrm>
          <a:prstGeom prst="roundRect">
            <a:avLst>
              <a:gd name="adj" fmla="val 29032"/>
            </a:avLst>
          </a:prstGeom>
          <a:solidFill>
            <a:srgbClr val="0B10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C9C6D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694944" y="5029200"/>
            <a:ext cx="11073384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1100" b="0" i="0" u="none" strike="noStrike" cap="none">
                <a:solidFill>
                  <a:srgbClr val="C9C6D6"/>
                </a:solidFill>
                <a:latin typeface="Verdana"/>
                <a:ea typeface="Verdana"/>
                <a:cs typeface="Verdana"/>
                <a:sym typeface="Verdana"/>
              </a:rPr>
              <a:t>Aclaración: El dataset es sintético y se utilizó con fines académicos. Por lo tanto, permite evaluar la metodología, pero los resultados no deben generalizarse directamente al mercado real.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sz="1000" b="0" i="1" u="none" strike="noStrike" cap="none">
                <a:solidFill>
                  <a:srgbClr val="C9C6D6"/>
                </a:solidFill>
                <a:latin typeface="Verdana"/>
                <a:ea typeface="Verdana"/>
                <a:cs typeface="Verdana"/>
                <a:sym typeface="Verdana"/>
              </a:rPr>
              <a:t>"...advanced real-world synthetic dataset tracking the evolution of the global technology ecosystem..." (</a:t>
            </a:r>
            <a:r>
              <a:rPr lang="es-ES" sz="1000" b="0" i="1" u="sng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https://www.kaggle.com/datasets/saitejabandaruin/global-tech-startups-pipeline</a:t>
            </a:r>
            <a:r>
              <a:rPr lang="es-ES" sz="1000" b="0" i="1" u="none" strike="noStrike" cap="none">
                <a:solidFill>
                  <a:srgbClr val="C9C6D6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316200" y="6121475"/>
            <a:ext cx="782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 i="0" u="none">
                <a:solidFill>
                  <a:srgbClr val="C9C6D6"/>
                </a:solidFill>
                <a:latin typeface="Verdana"/>
              </a:rPr>
              <a:t>Grupo 10 - </a:t>
            </a:r>
            <a:r>
              <a:rPr sz="1100" b="1" i="0" u="sng">
                <a:solidFill>
                  <a:srgbClr val="C9C6D6"/>
                </a:solidFill>
                <a:latin typeface="Verdana"/>
                <a:hlinkClick r:id="rId5"/>
              </a:rPr>
              <a:t>Agüero Luciana</a:t>
            </a:r>
            <a:r>
              <a:rPr sz="1100" b="1" i="0" u="none">
                <a:solidFill>
                  <a:srgbClr val="C9C6D6"/>
                </a:solidFill>
                <a:latin typeface="Verdana"/>
              </a:rPr>
              <a:t> | </a:t>
            </a:r>
            <a:r>
              <a:rPr sz="1100" b="1" i="0" u="sng">
                <a:solidFill>
                  <a:srgbClr val="C9C6D6"/>
                </a:solidFill>
                <a:latin typeface="Verdana"/>
                <a:hlinkClick r:id="rId6"/>
              </a:rPr>
              <a:t>Gutierrez Sídoli Priscila</a:t>
            </a:r>
            <a:r>
              <a:rPr sz="1100" b="1" i="0" u="none">
                <a:solidFill>
                  <a:srgbClr val="C9C6D6"/>
                </a:solidFill>
                <a:latin typeface="Verdana"/>
              </a:rPr>
              <a:t> | </a:t>
            </a:r>
            <a:r>
              <a:rPr sz="1100" b="1" i="0" u="sng">
                <a:solidFill>
                  <a:srgbClr val="C9C6D6"/>
                </a:solidFill>
                <a:latin typeface="Verdana"/>
                <a:hlinkClick r:id="rId7"/>
              </a:rPr>
              <a:t>Maldonado Vanesa</a:t>
            </a:r>
            <a:r>
              <a:rPr sz="1100" b="1" i="0" u="none">
                <a:solidFill>
                  <a:srgbClr val="C9C6D6"/>
                </a:solidFill>
                <a:latin typeface="Verdana"/>
              </a:rPr>
              <a:t> | </a:t>
            </a:r>
            <a:r>
              <a:rPr sz="1100" b="1" i="0" u="sng">
                <a:solidFill>
                  <a:srgbClr val="C9C6D6"/>
                </a:solidFill>
                <a:latin typeface="Verdana"/>
                <a:hlinkClick r:id="rId8"/>
              </a:rPr>
              <a:t>Paredes Silvina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58952" y="4599432"/>
            <a:ext cx="1325880" cy="347472"/>
          </a:xfrm>
          <a:prstGeom prst="roundRect">
            <a:avLst/>
          </a:prstGeom>
          <a:solidFill>
            <a:srgbClr val="5C2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10 dominios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12848" y="4599432"/>
            <a:ext cx="1234440" cy="347472"/>
          </a:xfrm>
          <a:prstGeom prst="roundRect">
            <a:avLst/>
          </a:prstGeom>
          <a:solidFill>
            <a:srgbClr val="19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10 países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75304" y="4599432"/>
            <a:ext cx="1325880" cy="347472"/>
          </a:xfrm>
          <a:prstGeom prst="roundRect">
            <a:avLst/>
          </a:prstGeom>
          <a:solidFill>
            <a:srgbClr val="EB6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6 etapas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A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09600" y="361950"/>
            <a:ext cx="100965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ES" sz="3000" b="1" i="0" u="none" strike="noStrike" cap="none">
                <a:solidFill>
                  <a:srgbClr val="0B1026"/>
                </a:solidFill>
                <a:latin typeface="Verdana"/>
                <a:ea typeface="Verdana"/>
                <a:cs typeface="Verdana"/>
                <a:sym typeface="Verdana"/>
              </a:rPr>
              <a:t>Pregunta y 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1001375" y="438150"/>
            <a:ext cx="5715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s-ES" sz="1425" b="1" i="0" u="none" strike="noStrike" cap="none">
                <a:solidFill>
                  <a:srgbClr val="5B2A86"/>
                </a:solidFill>
                <a:latin typeface="Verdana"/>
                <a:ea typeface="Verdana"/>
                <a:cs typeface="Verdana"/>
                <a:sym typeface="Verdana"/>
              </a:rPr>
              <a:t>02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726900" y="1185675"/>
            <a:ext cx="10738200" cy="1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1850" b="1" i="0" u="none" strike="noStrike" cap="none">
                <a:solidFill>
                  <a:srgbClr val="5B2A86"/>
                </a:solidFill>
                <a:latin typeface="Verdana"/>
                <a:ea typeface="Verdana"/>
                <a:cs typeface="Verdana"/>
                <a:sym typeface="Verdana"/>
              </a:rPr>
              <a:t>¿Qué factores financieros, tecnológicos y geográficos están asociados con la valuación de una Startup y qué tan bien podemos predecirla mediante ML para asesorar inversionistas utilizando el modelo como herramienta de apoyo?</a:t>
            </a:r>
            <a:endParaRPr sz="2000" b="1" i="0" u="none" strike="noStrike" cap="none">
              <a:solidFill>
                <a:srgbClr val="5B2A8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571625" y="2762250"/>
            <a:ext cx="9048750" cy="19050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19150" y="3105150"/>
            <a:ext cx="1714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1500" b="1" i="0" u="none" strike="noStrike" cap="none">
                <a:solidFill>
                  <a:srgbClr val="E76F51"/>
                </a:solidFill>
                <a:latin typeface="Verdana"/>
                <a:ea typeface="Verdana"/>
                <a:cs typeface="Verdana"/>
                <a:sym typeface="Verdana"/>
              </a:rPr>
              <a:t>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2381250" y="3009900"/>
            <a:ext cx="84772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lang="es-ES" sz="1875" b="0" i="0" u="none" strike="noStrike" cap="none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Identificar qué hace valiosa a una startup tecnológica y qué tan bien podemos predecir su valuación mediante datos observables.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819150" y="4286250"/>
            <a:ext cx="1714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1500" b="1" i="0" u="none" strike="noStrike" cap="none">
                <a:solidFill>
                  <a:srgbClr val="1F8A8A"/>
                </a:solidFill>
                <a:latin typeface="Verdana"/>
                <a:ea typeface="Verdana"/>
                <a:cs typeface="Verdana"/>
                <a:sym typeface="Verdana"/>
              </a:rPr>
              <a:t>Relevancia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2381250" y="4191000"/>
            <a:ext cx="8477400" cy="10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lang="es-ES" sz="1875" b="0" i="0" u="none" strike="noStrike" cap="none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Los resultados pueden ayudar a </a:t>
            </a:r>
            <a:r>
              <a:rPr lang="es-ES" sz="1875" b="1" i="0" u="none" strike="noStrike" cap="none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inversores y emprendedores</a:t>
            </a:r>
            <a:r>
              <a:rPr lang="es-ES" sz="1875" b="0" i="0" u="none" strike="noStrike" cap="none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 a reconocer patrones en empresas con diferentes perfiles.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09600" y="647700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ES" sz="975" b="0" i="0" u="none" strike="noStrike" cap="none">
                <a:solidFill>
                  <a:srgbClr val="7B8190"/>
                </a:solidFill>
                <a:latin typeface="Verdana"/>
                <a:ea typeface="Verdana"/>
                <a:cs typeface="Verdana"/>
                <a:sym typeface="Verdana"/>
              </a:rPr>
              <a:t>Global Tech Startups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1049000" y="647700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ES" sz="975" b="0" i="0" u="none" strike="noStrike" cap="none">
                <a:solidFill>
                  <a:srgbClr val="7B8190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874519" y="2286000"/>
            <a:ext cx="1965960" cy="347472"/>
          </a:xfrm>
          <a:prstGeom prst="round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5C2B91"/>
                </a:solidFill>
                <a:latin typeface="Aptos"/>
              </a:rPr>
              <a:t>1 · Asociación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41648" y="2286000"/>
            <a:ext cx="1965960" cy="347472"/>
          </a:xfrm>
          <a:prstGeom prst="roundRect">
            <a:avLst/>
          </a:prstGeom>
          <a:solidFill>
            <a:srgbClr val="EC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98F91"/>
                </a:solidFill>
                <a:latin typeface="Aptos"/>
              </a:rPr>
              <a:t>2 · Predicción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8" y="2258568"/>
            <a:ext cx="3886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30" b="0">
                <a:solidFill>
                  <a:srgbClr val="5F677A"/>
                </a:solidFill>
                <a:latin typeface="Aptos"/>
              </a:rPr>
              <a:t>Qué factores se relacionan con la valuación y qué tan bien podemos estimarla.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5925312"/>
            <a:ext cx="10835640" cy="457200"/>
          </a:xfrm>
          <a:prstGeom prst="roundRect">
            <a:avLst/>
          </a:prstGeom>
          <a:solidFill>
            <a:srgbClr val="F5F0FA"/>
          </a:solidFill>
          <a:ln w="10160"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22960" y="6003036"/>
            <a:ext cx="1024128" cy="292608"/>
          </a:xfrm>
          <a:prstGeom prst="roundRect">
            <a:avLst/>
          </a:prstGeom>
          <a:solidFill>
            <a:srgbClr val="5C2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Conclusión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966460"/>
            <a:ext cx="9189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090E2A"/>
                </a:solidFill>
                <a:latin typeface="Aptos"/>
              </a:rPr>
              <a:t>El trabajo combina análisis descriptivo y predicción: buscamos patrones útiles sin interpretar las asociaciones como relaciones causales.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A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609600" y="361950"/>
            <a:ext cx="100965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ES" sz="3000" b="1" i="0" u="none" strike="noStrike" cap="none">
                <a:solidFill>
                  <a:srgbClr val="0B1026"/>
                </a:solidFill>
                <a:latin typeface="Verdana"/>
                <a:ea typeface="Verdana"/>
                <a:cs typeface="Verdana"/>
                <a:sym typeface="Verdana"/>
              </a:rPr>
              <a:t>Dataset y calidad de datos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11001375" y="438150"/>
            <a:ext cx="5715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s-ES" sz="1425" b="1" i="0" u="none" strike="noStrike" cap="none">
                <a:solidFill>
                  <a:srgbClr val="5B2A86"/>
                </a:solidFill>
                <a:latin typeface="Verdana"/>
                <a:ea typeface="Verdana"/>
                <a:cs typeface="Verdana"/>
                <a:sym typeface="Verdana"/>
              </a:rPr>
              <a:t>03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762000" y="1428750"/>
            <a:ext cx="23812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s-ES" sz="3150" b="1" i="0" u="none" strike="noStrike" cap="none">
                <a:solidFill>
                  <a:srgbClr val="5B2A86"/>
                </a:solidFill>
                <a:latin typeface="Verdana"/>
                <a:ea typeface="Verdana"/>
                <a:cs typeface="Verdana"/>
                <a:sym typeface="Verdana"/>
              </a:rPr>
              <a:t>25.000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762000" y="1981200"/>
            <a:ext cx="23812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ES" sz="1350" b="0" i="0" u="none" strike="noStrike" cap="none">
                <a:solidFill>
                  <a:srgbClr val="5F6675"/>
                </a:solidFill>
                <a:latin typeface="Verdana"/>
                <a:ea typeface="Verdana"/>
                <a:cs typeface="Verdana"/>
                <a:sym typeface="Verdana"/>
              </a:rPr>
              <a:t>startups, una por fila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3619500" y="1428750"/>
            <a:ext cx="21907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s-ES" sz="3150" b="1" i="0" u="none" strike="noStrike" cap="none">
                <a:solidFill>
                  <a:srgbClr val="E76F51"/>
                </a:solidFill>
                <a:latin typeface="Verdana"/>
                <a:ea typeface="Verdana"/>
                <a:cs typeface="Verdana"/>
                <a:sym typeface="Verdana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3619500" y="1981200"/>
            <a:ext cx="21907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ES" sz="1350" b="0" i="0" u="none" strike="noStrike" cap="none">
                <a:solidFill>
                  <a:srgbClr val="5F6675"/>
                </a:solidFill>
                <a:latin typeface="Verdana"/>
                <a:ea typeface="Verdana"/>
                <a:cs typeface="Verdana"/>
                <a:sym typeface="Verdana"/>
              </a:rPr>
              <a:t>variables originales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477000" y="1428750"/>
            <a:ext cx="21907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s-ES" sz="3150" b="1" i="0" u="none" strike="noStrike" cap="none">
                <a:solidFill>
                  <a:srgbClr val="1F8A8A"/>
                </a:solidFill>
                <a:latin typeface="Verdana"/>
                <a:ea typeface="Verdana"/>
                <a:cs typeface="Verdana"/>
                <a:sym typeface="Verdana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477000" y="1981200"/>
            <a:ext cx="21907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sz="1130">
                <a:solidFill>
                  <a:srgbClr val="5F677A"/>
                </a:solidFill>
                <a:latin typeface="Aptos"/>
              </a:rPr>
              <a:t>dominios tecnológicos · 10 países</a:t>
            </a:r>
          </a:p>
        </p:txBody>
      </p:sp>
      <p:sp>
        <p:nvSpPr>
          <p:cNvPr id="57" name="Google Shape;57;p5"/>
          <p:cNvSpPr/>
          <p:nvPr/>
        </p:nvSpPr>
        <p:spPr>
          <a:xfrm>
            <a:off x="9334500" y="1428750"/>
            <a:ext cx="17145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s-ES" sz="3150" b="1" i="0" u="none" strike="noStrike" cap="none">
                <a:solidFill>
                  <a:srgbClr val="7A4BA3"/>
                </a:solidFill>
                <a:latin typeface="Verdana"/>
                <a:ea typeface="Verdana"/>
                <a:cs typeface="Verdana"/>
                <a:sym typeface="Verdana"/>
              </a:rPr>
              <a:t>29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9334500" y="1981200"/>
            <a:ext cx="17145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ES" sz="1350" b="0" i="0" u="none" strike="noStrike" cap="none">
                <a:solidFill>
                  <a:srgbClr val="5F6675"/>
                </a:solidFill>
                <a:latin typeface="Verdana"/>
                <a:ea typeface="Verdana"/>
                <a:cs typeface="Verdana"/>
                <a:sym typeface="Verdana"/>
              </a:rPr>
              <a:t>ciudades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85800" y="2952750"/>
            <a:ext cx="10820400" cy="19050"/>
          </a:xfrm>
          <a:prstGeom prst="rect">
            <a:avLst/>
          </a:prstGeom>
          <a:solidFill>
            <a:srgbClr val="D9DCE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762000" y="3314700"/>
            <a:ext cx="17145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s-ES" sz="1725" b="1" i="0" u="none" strike="noStrike" cap="none">
                <a:solidFill>
                  <a:srgbClr val="0B1026"/>
                </a:solidFill>
                <a:latin typeface="Verdana"/>
                <a:ea typeface="Verdana"/>
                <a:cs typeface="Verdana"/>
                <a:sym typeface="Verdana"/>
              </a:rPr>
              <a:t>Calidad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857250" y="3905250"/>
            <a:ext cx="8572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s-ES" sz="3300" b="1" i="0" u="none" strike="noStrike" cap="none">
                <a:solidFill>
                  <a:srgbClr val="1F8A8A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857250" y="4438650"/>
            <a:ext cx="2095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s-ES" sz="1425" b="0" i="0" u="none" strike="noStrike" cap="none">
                <a:solidFill>
                  <a:srgbClr val="5F6675"/>
                </a:solidFill>
                <a:latin typeface="Verdana"/>
                <a:ea typeface="Verdana"/>
                <a:cs typeface="Verdana"/>
                <a:sym typeface="Verdana"/>
              </a:rPr>
              <a:t>filas duplicadas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714750" y="3905250"/>
            <a:ext cx="20955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sz="2500" b="1">
                <a:solidFill>
                  <a:srgbClr val="EB694A"/>
                </a:solidFill>
              </a:rPr>
              <a:t>2.529</a:t>
            </a:r>
          </a:p>
        </p:txBody>
      </p:sp>
      <p:sp>
        <p:nvSpPr>
          <p:cNvPr id="64" name="Google Shape;64;p5"/>
          <p:cNvSpPr/>
          <p:nvPr/>
        </p:nvSpPr>
        <p:spPr>
          <a:xfrm>
            <a:off x="3714750" y="4438650"/>
            <a:ext cx="35242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sz="1100">
                <a:solidFill>
                  <a:srgbClr val="5F677A"/>
                </a:solidFill>
              </a:rPr>
              <a:t>faltantes en AI_Adoption_Level (10,1%)</a:t>
            </a:r>
          </a:p>
        </p:txBody>
      </p:sp>
      <p:sp>
        <p:nvSpPr>
          <p:cNvPr id="65" name="Google Shape;65;p5"/>
          <p:cNvSpPr/>
          <p:nvPr/>
        </p:nvSpPr>
        <p:spPr>
          <a:xfrm>
            <a:off x="7676728" y="3905250"/>
            <a:ext cx="28575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25"/>
              <a:buFont typeface="Arial"/>
              <a:buNone/>
            </a:pPr>
            <a:r>
              <a:rPr lang="es-ES" sz="2625" b="1" i="0" u="none" strike="noStrike" cap="none">
                <a:solidFill>
                  <a:srgbClr val="5B2A86"/>
                </a:solidFill>
                <a:latin typeface="Verdana"/>
                <a:ea typeface="Verdana"/>
                <a:cs typeface="Verdana"/>
                <a:sym typeface="Verdana"/>
              </a:rPr>
              <a:t>2012-2025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7676736" y="4391025"/>
            <a:ext cx="3524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s-ES" sz="1425" b="0" i="0" u="none" strike="noStrike" cap="none">
                <a:solidFill>
                  <a:srgbClr val="5F6675"/>
                </a:solidFill>
                <a:latin typeface="Verdana"/>
                <a:ea typeface="Verdana"/>
                <a:cs typeface="Verdana"/>
                <a:sym typeface="Verdana"/>
              </a:rPr>
              <a:t>año de fundación de la startup</a:t>
            </a:r>
            <a:endParaRPr sz="1425" b="0" i="0" u="none" strike="noStrike" cap="none">
              <a:solidFill>
                <a:srgbClr val="5F667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762000" y="5148072"/>
            <a:ext cx="7239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1080" b="0" i="0" u="none" strike="noStrike" cap="none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Company_ID se excluye del modelado porque solo identifica registros.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7886700" y="5362575"/>
            <a:ext cx="3429000" cy="361800"/>
          </a:xfrm>
          <a:prstGeom prst="roundRect">
            <a:avLst>
              <a:gd name="adj" fmla="val 29032"/>
            </a:avLst>
          </a:prstGeom>
          <a:solidFill>
            <a:srgbClr val="0B10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es-ES" sz="1275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Target: Valuation_USD_Millions</a:t>
            </a:r>
            <a:endParaRPr sz="1275" b="1" i="0" u="none" strike="noStrike" cap="non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09600" y="647700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ES" sz="975" b="0" i="0" u="none" strike="noStrike" cap="none">
                <a:solidFill>
                  <a:srgbClr val="7B8190"/>
                </a:solidFill>
                <a:latin typeface="Verdana"/>
                <a:ea typeface="Verdana"/>
                <a:cs typeface="Verdana"/>
                <a:sym typeface="Verdana"/>
              </a:rPr>
              <a:t>Global Tech Startups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1049000" y="647700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ES" sz="975" b="0" i="0" u="none" strike="noStrike" cap="none">
                <a:solidFill>
                  <a:srgbClr val="7B8190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13232" y="950976"/>
            <a:ext cx="7772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10" b="0">
                <a:solidFill>
                  <a:srgbClr val="5F677A"/>
                </a:solidFill>
                <a:latin typeface="Aptos"/>
              </a:rPr>
              <a:t>Cobertura amplia para comparar perfiles tecnológicos, geográficos y financieros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269480" y="4828032"/>
            <a:ext cx="1783080" cy="347472"/>
          </a:xfrm>
          <a:prstGeom prst="roundRect">
            <a:avLst/>
          </a:prstGeom>
          <a:solidFill>
            <a:srgbClr val="FE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10" b="1">
                <a:solidFill>
                  <a:srgbClr val="EB694A"/>
                </a:solidFill>
                <a:latin typeface="Aptos"/>
              </a:rPr>
              <a:t>6 etapas de funding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8680" y="5468112"/>
            <a:ext cx="6309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30" b="0">
                <a:solidFill>
                  <a:srgbClr val="5F677A"/>
                </a:solidFill>
                <a:latin typeface="Aptos"/>
              </a:rPr>
              <a:t>Los faltantes están concentrados en una sola variable; no hay registros duplicados.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5800" y="5925312"/>
            <a:ext cx="10835640" cy="457200"/>
          </a:xfrm>
          <a:prstGeom prst="roundRect">
            <a:avLst/>
          </a:prstGeom>
          <a:solidFill>
            <a:srgbClr val="ECF8F8"/>
          </a:solidFill>
          <a:ln w="10160"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822960" y="6003036"/>
            <a:ext cx="1024128" cy="292608"/>
          </a:xfrm>
          <a:prstGeom prst="roundRect">
            <a:avLst/>
          </a:prstGeom>
          <a:solidFill>
            <a:srgbClr val="19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Conclusión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993392" y="5966460"/>
            <a:ext cx="9189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090E2A"/>
                </a:solidFill>
                <a:latin typeface="Aptos"/>
              </a:rPr>
              <a:t>La base es consistente para el análisis: 25.000 registros, sin duplicados y con faltantes localizados que pueden tratarse mediante imputación.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A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609600" y="361950"/>
            <a:ext cx="100965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ES" sz="3000" b="1" i="0" u="none" strike="noStrike" cap="none">
                <a:solidFill>
                  <a:srgbClr val="0B1026"/>
                </a:solidFill>
                <a:latin typeface="Verdana"/>
                <a:ea typeface="Verdana"/>
                <a:cs typeface="Verdana"/>
                <a:sym typeface="Verdana"/>
              </a:rPr>
              <a:t>Variables y enfoque analítico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11001375" y="438150"/>
            <a:ext cx="5715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s-ES" sz="1425" b="1" i="0" u="none" strike="noStrike" cap="none">
                <a:solidFill>
                  <a:srgbClr val="5B2A86"/>
                </a:solidFill>
                <a:latin typeface="Verdana"/>
                <a:ea typeface="Verdana"/>
                <a:cs typeface="Verdana"/>
                <a:sym typeface="Verdana"/>
              </a:rPr>
              <a:t>04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685800" y="1238250"/>
            <a:ext cx="342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lang="es-ES" sz="1875" b="1" i="0" u="none" strike="noStrike" cap="none">
                <a:solidFill>
                  <a:srgbClr val="0B1026"/>
                </a:solidFill>
                <a:latin typeface="Verdana"/>
                <a:ea typeface="Verdana"/>
                <a:cs typeface="Verdana"/>
                <a:sym typeface="Verdana"/>
              </a:rPr>
              <a:t>Información disponible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742950" y="1809750"/>
            <a:ext cx="12858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ES" sz="1350" b="1" i="0" u="none" strike="noStrike" cap="none">
                <a:solidFill>
                  <a:srgbClr val="5B2A86"/>
                </a:solidFill>
                <a:latin typeface="Verdana"/>
                <a:ea typeface="Verdana"/>
                <a:cs typeface="Verdana"/>
                <a:sym typeface="Verdana"/>
              </a:rPr>
              <a:t>Negocio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2076450" y="1790700"/>
            <a:ext cx="3810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1500" b="0" i="0" u="none" strike="noStrike" cap="none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Dominio, etapa, inversor y adquisición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742950" y="2686050"/>
            <a:ext cx="12858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ES" sz="1350" b="1" i="0" u="none" strike="noStrike" cap="none">
                <a:solidFill>
                  <a:srgbClr val="E76F51"/>
                </a:solidFill>
                <a:latin typeface="Verdana"/>
                <a:ea typeface="Verdana"/>
                <a:cs typeface="Verdana"/>
                <a:sym typeface="Verdana"/>
              </a:rPr>
              <a:t>Finanzas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2076450" y="2667000"/>
            <a:ext cx="3810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1500" b="0" i="0" u="none" strike="noStrike" cap="none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Funding, valuación, ARR, burn rate y runway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742950" y="3562350"/>
            <a:ext cx="12858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ES" sz="1350" b="1" i="0" u="none" strike="noStrike" cap="none">
                <a:solidFill>
                  <a:srgbClr val="1F8A8A"/>
                </a:solidFill>
                <a:latin typeface="Verdana"/>
                <a:ea typeface="Verdana"/>
                <a:cs typeface="Verdana"/>
                <a:sym typeface="Verdana"/>
              </a:rPr>
              <a:t>Escala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2076450" y="3543300"/>
            <a:ext cx="3810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1500" b="0" i="0" u="none" strike="noStrike" cap="none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Headcount y despidos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742950" y="4438650"/>
            <a:ext cx="12858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ES" sz="1350" b="1" i="0" u="none" strike="noStrike" cap="none">
                <a:solidFill>
                  <a:srgbClr val="7A4BA3"/>
                </a:solidFill>
                <a:latin typeface="Verdana"/>
                <a:ea typeface="Verdana"/>
                <a:cs typeface="Verdana"/>
                <a:sym typeface="Verdana"/>
              </a:rPr>
              <a:t>Contexto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2076450" y="4419600"/>
            <a:ext cx="3810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1500" b="0" i="0" u="none" strike="noStrike" cap="none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País, ciudad, antigüedad y adopción de 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667500" y="1238250"/>
            <a:ext cx="2857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lang="es-ES" sz="1875" b="1" i="0" u="none" strike="noStrike" cap="none">
                <a:solidFill>
                  <a:srgbClr val="0B1026"/>
                </a:solidFill>
                <a:latin typeface="Verdana"/>
                <a:ea typeface="Verdana"/>
                <a:cs typeface="Verdana"/>
                <a:sym typeface="Verdana"/>
              </a:rPr>
              <a:t>Proceso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6762750" y="1790700"/>
            <a:ext cx="4000500" cy="62865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 cap="flat" cmpd="sng">
            <a:solidFill>
              <a:srgbClr val="D9DC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6953250" y="1924050"/>
            <a:ext cx="361950" cy="361950"/>
          </a:xfrm>
          <a:prstGeom prst="ellipse">
            <a:avLst/>
          </a:prstGeom>
          <a:solidFill>
            <a:srgbClr val="EDE8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6962774" y="1990725"/>
            <a:ext cx="36194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1" i="0" u="none" strike="noStrike" cap="none">
                <a:solidFill>
                  <a:srgbClr val="5B2A86"/>
                </a:solidFill>
                <a:latin typeface="Verdana"/>
                <a:ea typeface="Verdana"/>
                <a:cs typeface="Verdana"/>
                <a:sym typeface="Verdana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7524750" y="1943100"/>
            <a:ext cx="29527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es-ES" sz="1575" b="0" i="0" u="none" strike="noStrike" cap="none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Calidad y EDA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6762750" y="2762250"/>
            <a:ext cx="4000500" cy="62865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 cap="flat" cmpd="sng">
            <a:solidFill>
              <a:srgbClr val="D9DC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953250" y="2895600"/>
            <a:ext cx="361950" cy="361950"/>
          </a:xfrm>
          <a:prstGeom prst="ellipse">
            <a:avLst/>
          </a:prstGeom>
          <a:solidFill>
            <a:srgbClr val="EDE8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6962775" y="2962274"/>
            <a:ext cx="36194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1" i="0" u="none" strike="noStrike" cap="none">
                <a:solidFill>
                  <a:srgbClr val="5B2A86"/>
                </a:solidFill>
                <a:latin typeface="Verdana"/>
                <a:ea typeface="Verdana"/>
                <a:cs typeface="Verdana"/>
                <a:sym typeface="Verdana"/>
              </a:rPr>
              <a:t>02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7524750" y="2914650"/>
            <a:ext cx="29527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es-ES" sz="1575" b="0" i="0" u="none" strike="noStrike" cap="none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Feature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762750" y="3733800"/>
            <a:ext cx="4000500" cy="62865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 cap="flat" cmpd="sng">
            <a:solidFill>
              <a:srgbClr val="D9DC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6953250" y="3867150"/>
            <a:ext cx="361950" cy="361950"/>
          </a:xfrm>
          <a:prstGeom prst="ellipse">
            <a:avLst/>
          </a:prstGeom>
          <a:solidFill>
            <a:srgbClr val="EDE8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962775" y="3933824"/>
            <a:ext cx="36194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1" i="0" u="none" strike="noStrike" cap="none">
                <a:solidFill>
                  <a:srgbClr val="5B2A86"/>
                </a:solidFill>
                <a:latin typeface="Verdana"/>
                <a:ea typeface="Verdana"/>
                <a:cs typeface="Verdana"/>
                <a:sym typeface="Verdana"/>
              </a:rPr>
              <a:t>03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7524750" y="3886200"/>
            <a:ext cx="29527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es-ES" sz="1575" b="0" i="0" u="none" strike="noStrike" cap="none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Modelos de regresión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762750" y="4705350"/>
            <a:ext cx="4000500" cy="628650"/>
          </a:xfrm>
          <a:prstGeom prst="roundRect">
            <a:avLst>
              <a:gd name="adj" fmla="val 27273"/>
            </a:avLst>
          </a:prstGeom>
          <a:solidFill>
            <a:srgbClr val="0B1026"/>
          </a:solidFill>
          <a:ln w="9525" cap="flat" cmpd="sng">
            <a:solidFill>
              <a:srgbClr val="D9DC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6953250" y="4838700"/>
            <a:ext cx="361950" cy="36195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962774" y="4905375"/>
            <a:ext cx="352425" cy="151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04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7524750" y="4857750"/>
            <a:ext cx="29527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es-ES" sz="1575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Validación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09600" y="647700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ES" sz="975" b="0" i="0" u="none" strike="noStrike" cap="none">
                <a:solidFill>
                  <a:srgbClr val="7B8190"/>
                </a:solidFill>
                <a:latin typeface="Verdana"/>
                <a:ea typeface="Verdana"/>
                <a:cs typeface="Verdana"/>
                <a:sym typeface="Verdana"/>
              </a:rPr>
              <a:t>Global Tech Startups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1049000" y="647700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ES" sz="975" b="0" i="0" u="none" strike="noStrike" cap="none">
                <a:solidFill>
                  <a:srgbClr val="7B8190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713232" y="960120"/>
            <a:ext cx="8321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10" b="0">
                <a:solidFill>
                  <a:srgbClr val="5F677A"/>
                </a:solidFill>
                <a:latin typeface="Aptos"/>
              </a:rPr>
              <a:t>Integramos variables de negocio, finanzas, escala y contexto dentro de un único flujo reproducible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85800" y="5961888"/>
            <a:ext cx="10835640" cy="457200"/>
          </a:xfrm>
          <a:prstGeom prst="roundRect">
            <a:avLst/>
          </a:prstGeom>
          <a:solidFill>
            <a:srgbClr val="F5F0FA"/>
          </a:solidFill>
          <a:ln w="10160"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822960" y="6039612"/>
            <a:ext cx="1024128" cy="292608"/>
          </a:xfrm>
          <a:prstGeom prst="roundRect">
            <a:avLst/>
          </a:prstGeom>
          <a:solidFill>
            <a:srgbClr val="5C2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Conclusión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993392" y="6003036"/>
            <a:ext cx="9189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090E2A"/>
                </a:solidFill>
                <a:latin typeface="Aptos"/>
              </a:rPr>
              <a:t>El proceso conecta calidad, transformación y modelado bajo el mismo pipeline, facilitando una comparación consistente entre modelos.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839712" y="5504688"/>
            <a:ext cx="1755648" cy="329184"/>
          </a:xfrm>
          <a:prstGeom prst="round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30" b="1">
                <a:solidFill>
                  <a:srgbClr val="5C2B91"/>
                </a:solidFill>
                <a:latin typeface="Aptos"/>
              </a:rPr>
              <a:t>Target: valuación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668512" y="5504688"/>
            <a:ext cx="1755648" cy="329184"/>
          </a:xfrm>
          <a:prstGeom prst="roundRect">
            <a:avLst/>
          </a:prstGeom>
          <a:solidFill>
            <a:srgbClr val="EC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98F91"/>
                </a:solidFill>
                <a:latin typeface="Aptos"/>
              </a:rPr>
              <a:t>4 bloques de predictores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0497312" y="5504688"/>
            <a:ext cx="932688" cy="329184"/>
          </a:xfrm>
          <a:prstGeom prst="roundRect">
            <a:avLst/>
          </a:prstGeom>
          <a:solidFill>
            <a:srgbClr val="FE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EB694A"/>
                </a:solidFill>
                <a:latin typeface="Aptos"/>
              </a:rPr>
              <a:t>MAE · RMSE · R²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A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09600" y="361950"/>
            <a:ext cx="100965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ES" sz="3000" b="1" i="0" u="none" strike="noStrike" cap="none">
                <a:solidFill>
                  <a:srgbClr val="0B1026"/>
                </a:solidFill>
                <a:latin typeface="Verdana"/>
                <a:ea typeface="Verdana"/>
                <a:cs typeface="Verdana"/>
                <a:sym typeface="Verdana"/>
              </a:rPr>
              <a:t>Concentración por dominio y país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11001375" y="438150"/>
            <a:ext cx="5715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s-ES" sz="1425" b="1" i="0" u="none" strike="noStrike" cap="none">
                <a:solidFill>
                  <a:srgbClr val="5B2A86"/>
                </a:solidFill>
                <a:latin typeface="Verdana"/>
                <a:ea typeface="Verdana"/>
                <a:cs typeface="Verdana"/>
                <a:sym typeface="Verdana"/>
              </a:rPr>
              <a:t>05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875" y="1381125"/>
            <a:ext cx="5715000" cy="43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0" y="1381125"/>
            <a:ext cx="5048250" cy="433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7"/>
          <p:cNvSpPr/>
          <p:nvPr/>
        </p:nvSpPr>
        <p:spPr>
          <a:xfrm>
            <a:off x="1905000" y="1143000"/>
            <a:ext cx="2857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s-ES" sz="1425" b="1" i="0" u="none" strike="noStrike" cap="none">
                <a:solidFill>
                  <a:srgbClr val="5B2A86"/>
                </a:solidFill>
                <a:latin typeface="Verdana"/>
                <a:ea typeface="Verdana"/>
                <a:cs typeface="Verdana"/>
                <a:sym typeface="Verdana"/>
              </a:rPr>
              <a:t>Dominio tecnológico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7715250" y="1143000"/>
            <a:ext cx="2190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s-ES" sz="1425" b="1" i="0" u="none" strike="noStrike" cap="none">
                <a:solidFill>
                  <a:srgbClr val="E76F51"/>
                </a:solidFill>
                <a:latin typeface="Verdana"/>
                <a:ea typeface="Verdana"/>
                <a:cs typeface="Verdana"/>
                <a:sym typeface="Verdana"/>
              </a:rPr>
              <a:t>País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09600" y="647700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ES" sz="975" b="0" i="0" u="none" strike="noStrike" cap="none">
                <a:solidFill>
                  <a:srgbClr val="7B8190"/>
                </a:solidFill>
                <a:latin typeface="Verdana"/>
                <a:ea typeface="Verdana"/>
                <a:cs typeface="Verdana"/>
                <a:sym typeface="Verdana"/>
              </a:rPr>
              <a:t>Global Tech Startups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11049000" y="647700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ES" sz="975" b="0" i="0" u="none" strike="noStrike" cap="none">
                <a:solidFill>
                  <a:srgbClr val="7B8190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713232" y="969264"/>
            <a:ext cx="79552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0">
                <a:solidFill>
                  <a:srgbClr val="5F677A"/>
                </a:solidFill>
                <a:latin typeface="Aptos"/>
              </a:rPr>
              <a:t>Distribución de las 25.000 startups: la muestra no está repartida de manera uniforme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85800" y="5943600"/>
            <a:ext cx="10835640" cy="457200"/>
          </a:xfrm>
          <a:prstGeom prst="roundRect">
            <a:avLst/>
          </a:prstGeom>
          <a:solidFill>
            <a:srgbClr val="F5F0FA"/>
          </a:solidFill>
          <a:ln w="10160"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ounded Rectangle 124"/>
          <p:cNvSpPr/>
          <p:nvPr/>
        </p:nvSpPr>
        <p:spPr>
          <a:xfrm>
            <a:off x="822960" y="6021324"/>
            <a:ext cx="1024128" cy="292608"/>
          </a:xfrm>
          <a:prstGeom prst="roundRect">
            <a:avLst/>
          </a:prstGeom>
          <a:solidFill>
            <a:srgbClr val="5C2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Conclusión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993392" y="5984748"/>
            <a:ext cx="9281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70" b="0">
                <a:solidFill>
                  <a:srgbClr val="090E2A"/>
                </a:solidFill>
                <a:latin typeface="Aptos"/>
              </a:rPr>
              <a:t>Generative AI (20,2%) y EE. UU. (44,7%) tienen un peso dominante; esta concentración debe considerarse al interpretar los resultados.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A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609600" y="361950"/>
            <a:ext cx="100965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ES" sz="3000" b="1" i="0" u="none" strike="noStrike" cap="none">
                <a:solidFill>
                  <a:srgbClr val="0B1026"/>
                </a:solidFill>
                <a:latin typeface="Verdana"/>
                <a:ea typeface="Verdana"/>
                <a:cs typeface="Verdana"/>
                <a:sym typeface="Verdana"/>
              </a:rPr>
              <a:t>La muestra se concentra en etapas iniciales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11001375" y="438150"/>
            <a:ext cx="5715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s-ES" sz="1425" b="1" i="0" u="none" strike="noStrike" cap="none">
                <a:solidFill>
                  <a:srgbClr val="5B2A86"/>
                </a:solidFill>
                <a:latin typeface="Verdana"/>
                <a:ea typeface="Verdana"/>
                <a:cs typeface="Verdana"/>
                <a:sym typeface="Verdana"/>
              </a:rPr>
              <a:t>06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476375"/>
            <a:ext cx="7524750" cy="40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8"/>
          <p:cNvSpPr/>
          <p:nvPr/>
        </p:nvSpPr>
        <p:spPr>
          <a:xfrm>
            <a:off x="8572500" y="1952625"/>
            <a:ext cx="25717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s-ES" sz="3150" b="1" i="0" u="none" strike="noStrike" cap="none">
                <a:solidFill>
                  <a:srgbClr val="E76F51"/>
                </a:solidFill>
                <a:latin typeface="Verdana"/>
                <a:ea typeface="Verdana"/>
                <a:cs typeface="Verdana"/>
                <a:sym typeface="Verdana"/>
              </a:rPr>
              <a:t>59,8%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8572500" y="2505075"/>
            <a:ext cx="25717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ES" sz="1350" b="0" i="0" u="none" strike="noStrike" cap="none">
                <a:solidFill>
                  <a:srgbClr val="5F6675"/>
                </a:solidFill>
                <a:latin typeface="Verdana"/>
                <a:ea typeface="Verdana"/>
                <a:cs typeface="Verdana"/>
                <a:sym typeface="Verdana"/>
              </a:rPr>
              <a:t>está en Seed o Series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609600" y="647700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ES" sz="975" b="0" i="0" u="none" strike="noStrike" cap="none">
                <a:solidFill>
                  <a:srgbClr val="7B8190"/>
                </a:solidFill>
                <a:latin typeface="Verdana"/>
                <a:ea typeface="Verdana"/>
                <a:cs typeface="Verdana"/>
                <a:sym typeface="Verdana"/>
              </a:rPr>
              <a:t>Global Tech Startups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11049000" y="647700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ES" sz="975" b="0" i="0" u="none" strike="noStrike" cap="none">
                <a:solidFill>
                  <a:srgbClr val="7B8190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713232" y="969264"/>
            <a:ext cx="7132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0">
                <a:solidFill>
                  <a:srgbClr val="5F677A"/>
                </a:solidFill>
                <a:latin typeface="Aptos"/>
              </a:rPr>
              <a:t>La distribución por Funding Stage está sesgada hacia empresas tempranas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8732520" y="3611880"/>
            <a:ext cx="2148840" cy="841248"/>
          </a:xfrm>
          <a:prstGeom prst="roundRect">
            <a:avLst/>
          </a:prstGeom>
          <a:solidFill>
            <a:srgbClr val="F5F0FA"/>
          </a:solidFill>
          <a:ln w="8890"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8897112" y="3703320"/>
            <a:ext cx="18196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5C2B91"/>
                </a:solidFill>
                <a:latin typeface="Aptos Display"/>
              </a:rPr>
              <a:t>79,9%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897112" y="4041648"/>
            <a:ext cx="181965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5F677A"/>
                </a:solidFill>
                <a:latin typeface="Aptos"/>
              </a:rPr>
              <a:t>está entre Seed y Series B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8732520" y="4572000"/>
            <a:ext cx="2148840" cy="841248"/>
          </a:xfrm>
          <a:prstGeom prst="roundRect">
            <a:avLst/>
          </a:prstGeom>
          <a:solidFill>
            <a:srgbClr val="FEF2ED"/>
          </a:solidFill>
          <a:ln w="8890"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8897112" y="4663440"/>
            <a:ext cx="18196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EB694A"/>
                </a:solidFill>
                <a:latin typeface="Aptos Display"/>
              </a:rPr>
              <a:t>8,2%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897112" y="5001768"/>
            <a:ext cx="181965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5F677A"/>
                </a:solidFill>
                <a:latin typeface="Aptos"/>
              </a:rPr>
              <a:t>está en Pre-IPO o Post-IPO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85800" y="5943600"/>
            <a:ext cx="10835640" cy="457200"/>
          </a:xfrm>
          <a:prstGeom prst="roundRect">
            <a:avLst/>
          </a:prstGeom>
          <a:solidFill>
            <a:srgbClr val="F5F0FA"/>
          </a:solidFill>
          <a:ln w="10160"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ounded Rectangle 145"/>
          <p:cNvSpPr/>
          <p:nvPr/>
        </p:nvSpPr>
        <p:spPr>
          <a:xfrm>
            <a:off x="822960" y="6021324"/>
            <a:ext cx="1024128" cy="292608"/>
          </a:xfrm>
          <a:prstGeom prst="roundRect">
            <a:avLst/>
          </a:prstGeom>
          <a:solidFill>
            <a:srgbClr val="5C2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Conclusión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993392" y="5984748"/>
            <a:ext cx="9281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70" b="0">
                <a:solidFill>
                  <a:srgbClr val="090E2A"/>
                </a:solidFill>
                <a:latin typeface="Aptos"/>
              </a:rPr>
              <a:t>El dataset representa principalmente startups en etapas iniciales; las etapas maduras tienen mucha menor presencia en la muestra.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A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609600" y="361950"/>
            <a:ext cx="100965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ES" sz="3000" b="1" i="0" u="none" strike="noStrike" cap="none">
                <a:solidFill>
                  <a:srgbClr val="0B1026"/>
                </a:solidFill>
                <a:latin typeface="Verdana"/>
                <a:ea typeface="Verdana"/>
                <a:cs typeface="Verdana"/>
                <a:sym typeface="Verdana"/>
              </a:rPr>
              <a:t>Valuación por etapa de financiamiento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11001375" y="438150"/>
            <a:ext cx="5715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s-ES" sz="1425" b="1" i="0" u="none" strike="noStrike" cap="none">
                <a:solidFill>
                  <a:srgbClr val="5B2A86"/>
                </a:solidFill>
                <a:latin typeface="Verdana"/>
                <a:ea typeface="Verdana"/>
                <a:cs typeface="Verdana"/>
                <a:sym typeface="Verdana"/>
              </a:rPr>
              <a:t>07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476375"/>
            <a:ext cx="7810500" cy="40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9"/>
          <p:cNvSpPr/>
          <p:nvPr/>
        </p:nvSpPr>
        <p:spPr>
          <a:xfrm>
            <a:off x="8858250" y="1905000"/>
            <a:ext cx="24765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s-ES" sz="3150" b="1" i="0" u="none" strike="noStrike" cap="none">
                <a:solidFill>
                  <a:srgbClr val="E76F51"/>
                </a:solidFill>
                <a:latin typeface="Verdana"/>
                <a:ea typeface="Verdana"/>
                <a:cs typeface="Verdana"/>
                <a:sym typeface="Verdana"/>
              </a:rPr>
              <a:t>113×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8858250" y="2457450"/>
            <a:ext cx="24765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ES" sz="1350" b="0" i="0" u="none" strike="noStrike" cap="none">
                <a:solidFill>
                  <a:srgbClr val="5F6675"/>
                </a:solidFill>
                <a:latin typeface="Verdana"/>
                <a:ea typeface="Verdana"/>
                <a:cs typeface="Verdana"/>
                <a:sym typeface="Verdana"/>
              </a:rPr>
              <a:t>mediana Post-IPO frente a Seed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8953500" y="3476625"/>
            <a:ext cx="8572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es-ES" sz="1275" b="1" i="0" u="none" strike="noStrike" cap="none">
                <a:solidFill>
                  <a:srgbClr val="5F6675"/>
                </a:solidFill>
                <a:latin typeface="Verdana"/>
                <a:ea typeface="Verdana"/>
                <a:cs typeface="Verdana"/>
                <a:sym typeface="Verdana"/>
              </a:rPr>
              <a:t>Seed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8953500" y="3790950"/>
            <a:ext cx="20002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lang="es-ES" sz="1875" b="1" i="0" u="none" strike="noStrike" cap="none">
                <a:solidFill>
                  <a:srgbClr val="5B2A86"/>
                </a:solidFill>
                <a:latin typeface="Verdana"/>
                <a:ea typeface="Verdana"/>
                <a:cs typeface="Verdana"/>
                <a:sym typeface="Verdana"/>
              </a:rPr>
              <a:t>USD 25,51 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8953500" y="4476750"/>
            <a:ext cx="1143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es-ES" sz="1275" b="1" i="0" u="none" strike="noStrike" cap="none">
                <a:solidFill>
                  <a:srgbClr val="5F6675"/>
                </a:solidFill>
                <a:latin typeface="Verdana"/>
                <a:ea typeface="Verdana"/>
                <a:cs typeface="Verdana"/>
                <a:sym typeface="Verdana"/>
              </a:rPr>
              <a:t>Post-IPO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8763000" y="4791075"/>
            <a:ext cx="27622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s-ES" sz="1725" b="1" i="0" u="none" strike="noStrike" cap="none">
                <a:solidFill>
                  <a:srgbClr val="E76F51"/>
                </a:solidFill>
                <a:latin typeface="Verdana"/>
                <a:ea typeface="Verdana"/>
                <a:cs typeface="Verdana"/>
                <a:sym typeface="Verdana"/>
              </a:rPr>
              <a:t>USD 2.881,10 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609600" y="647700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ES" sz="975" b="0" i="0" u="none" strike="noStrike" cap="none">
                <a:solidFill>
                  <a:srgbClr val="7B8190"/>
                </a:solidFill>
                <a:latin typeface="Verdana"/>
                <a:ea typeface="Verdana"/>
                <a:cs typeface="Verdana"/>
                <a:sym typeface="Verdana"/>
              </a:rPr>
              <a:t>Global Tech Startups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11049000" y="647700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ES" sz="975" b="0" i="0" u="none" strike="noStrike" cap="none">
                <a:solidFill>
                  <a:srgbClr val="7B8190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713232" y="969264"/>
            <a:ext cx="7772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0">
                <a:solidFill>
                  <a:srgbClr val="5F677A"/>
                </a:solidFill>
                <a:latin typeface="Aptos"/>
              </a:rPr>
              <a:t>La mediana de valuación aumenta de forma sostenida a medida que avanza la etapa de financiamiento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092440" y="1307592"/>
            <a:ext cx="3063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60" b="1">
                <a:solidFill>
                  <a:srgbClr val="198F91"/>
                </a:solidFill>
                <a:latin typeface="Aptos"/>
              </a:rPr>
              <a:t>Mediana: menos sensible a valores extremos que el promedio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85800" y="5943600"/>
            <a:ext cx="10835640" cy="457200"/>
          </a:xfrm>
          <a:prstGeom prst="roundRect">
            <a:avLst/>
          </a:prstGeom>
          <a:solidFill>
            <a:srgbClr val="FEF2ED"/>
          </a:solidFill>
          <a:ln w="10160"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ounded Rectangle 157"/>
          <p:cNvSpPr/>
          <p:nvPr/>
        </p:nvSpPr>
        <p:spPr>
          <a:xfrm>
            <a:off x="822960" y="6021324"/>
            <a:ext cx="1024128" cy="292608"/>
          </a:xfrm>
          <a:prstGeom prst="roundRect">
            <a:avLst/>
          </a:prstGeom>
          <a:solidFill>
            <a:srgbClr val="EB6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Conclusión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993392" y="5984748"/>
            <a:ext cx="9281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70" b="0">
                <a:solidFill>
                  <a:srgbClr val="090E2A"/>
                </a:solidFill>
                <a:latin typeface="Aptos"/>
              </a:rPr>
              <a:t>La etapa de financiamiento muestra el patrón descriptivo más claro: Post-IPO tiene una mediana 113× mayor que Seed. Es asociación, no causalidad.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A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609600" y="361950"/>
            <a:ext cx="100965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ES" sz="3000" b="1" i="0" u="none" strike="noStrike" cap="none">
                <a:solidFill>
                  <a:srgbClr val="0B1026"/>
                </a:solidFill>
                <a:latin typeface="Verdana"/>
                <a:ea typeface="Verdana"/>
                <a:cs typeface="Verdana"/>
                <a:sym typeface="Verdana"/>
              </a:rPr>
              <a:t>El dominio diferencia más que el país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11001375" y="438150"/>
            <a:ext cx="5715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s-ES" sz="1425" b="1" i="0" u="none" strike="noStrike" cap="none">
                <a:solidFill>
                  <a:srgbClr val="5B2A86"/>
                </a:solidFill>
                <a:latin typeface="Verdana"/>
                <a:ea typeface="Verdana"/>
                <a:cs typeface="Verdana"/>
                <a:sym typeface="Verdana"/>
              </a:rPr>
              <a:t>08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125" y="1381125"/>
            <a:ext cx="7239000" cy="44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0"/>
          <p:cNvSpPr/>
          <p:nvPr/>
        </p:nvSpPr>
        <p:spPr>
          <a:xfrm>
            <a:off x="8477250" y="1524000"/>
            <a:ext cx="2476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1500" b="1" i="0" u="none" strike="noStrike" cap="none">
                <a:solidFill>
                  <a:srgbClr val="0B1026"/>
                </a:solidFill>
                <a:latin typeface="Verdana"/>
                <a:ea typeface="Verdana"/>
                <a:cs typeface="Verdana"/>
                <a:sym typeface="Verdana"/>
              </a:rPr>
              <a:t>Valuación mediana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8477250" y="2095500"/>
            <a:ext cx="24765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s-ES" sz="1425" b="0" i="0" u="none" strike="noStrike" cap="none">
                <a:solidFill>
                  <a:srgbClr val="5F6675"/>
                </a:solidFill>
                <a:latin typeface="Verdana"/>
                <a:ea typeface="Verdana"/>
                <a:cs typeface="Verdana"/>
                <a:sym typeface="Verdana"/>
              </a:rPr>
              <a:t>Generative AI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8477250" y="2476500"/>
            <a:ext cx="285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100" b="1" i="0" u="none" strike="noStrike" cap="none">
                <a:solidFill>
                  <a:srgbClr val="E76F51"/>
                </a:solidFill>
                <a:latin typeface="Verdana"/>
                <a:ea typeface="Verdana"/>
                <a:cs typeface="Verdana"/>
                <a:sym typeface="Verdana"/>
              </a:rPr>
              <a:t>USD 144,88 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8477250" y="3238500"/>
            <a:ext cx="24765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s-ES" sz="1425" b="0" i="0" u="none" strike="noStrike" cap="none">
                <a:solidFill>
                  <a:srgbClr val="5F6675"/>
                </a:solidFill>
                <a:latin typeface="Verdana"/>
                <a:ea typeface="Verdana"/>
                <a:cs typeface="Verdana"/>
                <a:sym typeface="Verdana"/>
              </a:rPr>
              <a:t>SpaceTech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8477250" y="3619500"/>
            <a:ext cx="285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100" b="1" i="0" u="none" strike="noStrike" cap="none">
                <a:solidFill>
                  <a:srgbClr val="5B2A86"/>
                </a:solidFill>
                <a:latin typeface="Verdana"/>
                <a:ea typeface="Verdana"/>
                <a:cs typeface="Verdana"/>
                <a:sym typeface="Verdana"/>
              </a:rPr>
              <a:t>USD 115,55 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609600" y="647700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ES" sz="975" b="0" i="0" u="none" strike="noStrike" cap="none">
                <a:solidFill>
                  <a:srgbClr val="7B8190"/>
                </a:solidFill>
                <a:latin typeface="Verdana"/>
                <a:ea typeface="Verdana"/>
                <a:cs typeface="Verdana"/>
                <a:sym typeface="Verdana"/>
              </a:rPr>
              <a:t>Global Tech Startups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11049000" y="647700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ES" sz="975" b="0" i="0" u="none" strike="noStrike" cap="none">
                <a:solidFill>
                  <a:srgbClr val="7B8190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713232" y="969264"/>
            <a:ext cx="8046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0">
                <a:solidFill>
                  <a:srgbClr val="5F677A"/>
                </a:solidFill>
                <a:latin typeface="Aptos"/>
              </a:rPr>
              <a:t>La variación entre dominios tecnológicos es mucho mayor que la observada entre países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8705088" y="4434840"/>
            <a:ext cx="2331720" cy="713232"/>
          </a:xfrm>
          <a:prstGeom prst="roundRect">
            <a:avLst/>
          </a:prstGeom>
          <a:solidFill>
            <a:srgbClr val="F5F0FA"/>
          </a:solidFill>
          <a:ln w="8890"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8869680" y="4526279"/>
            <a:ext cx="20025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5C2B91"/>
                </a:solidFill>
                <a:latin typeface="Aptos Display"/>
              </a:rPr>
              <a:t>2,69×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869680" y="4864607"/>
            <a:ext cx="2002536" cy="2103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5F677A"/>
                </a:solidFill>
                <a:latin typeface="Aptos"/>
              </a:rPr>
              <a:t>Generative AI vs. ClimateTech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8705088" y="5230368"/>
            <a:ext cx="2331720" cy="713232"/>
          </a:xfrm>
          <a:prstGeom prst="roundRect">
            <a:avLst/>
          </a:prstGeom>
          <a:solidFill>
            <a:srgbClr val="FEF2ED"/>
          </a:solidFill>
          <a:ln w="8890"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8869680" y="5321807"/>
            <a:ext cx="20025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EB694A"/>
                </a:solidFill>
                <a:latin typeface="Aptos Display"/>
              </a:rPr>
              <a:t>1,32×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8869680" y="5660136"/>
            <a:ext cx="2002536" cy="2103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5F677A"/>
                </a:solidFill>
                <a:latin typeface="Aptos"/>
              </a:rPr>
              <a:t>India vs. Singapur por mediana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685800" y="5943600"/>
            <a:ext cx="10835640" cy="457200"/>
          </a:xfrm>
          <a:prstGeom prst="roundRect">
            <a:avLst/>
          </a:prstGeom>
          <a:solidFill>
            <a:srgbClr val="ECF8F8"/>
          </a:solidFill>
          <a:ln w="10160"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ounded Rectangle 179"/>
          <p:cNvSpPr/>
          <p:nvPr/>
        </p:nvSpPr>
        <p:spPr>
          <a:xfrm>
            <a:off x="822960" y="6021324"/>
            <a:ext cx="1024128" cy="292608"/>
          </a:xfrm>
          <a:prstGeom prst="roundRect">
            <a:avLst/>
          </a:prstGeom>
          <a:solidFill>
            <a:srgbClr val="19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Conclusión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993392" y="5984748"/>
            <a:ext cx="9281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70" b="0">
                <a:solidFill>
                  <a:srgbClr val="090E2A"/>
                </a:solidFill>
                <a:latin typeface="Aptos"/>
              </a:rPr>
              <a:t>En este dataset, el dominio tecnológico separa más la valuación que el país; la ubicación geográfica muestra diferencias bastante menores.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A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609600" y="361950"/>
            <a:ext cx="100965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ES" sz="3000" b="1" i="0" u="none" strike="noStrike" cap="none">
                <a:solidFill>
                  <a:srgbClr val="0B1026"/>
                </a:solidFill>
                <a:latin typeface="Verdana"/>
                <a:ea typeface="Verdana"/>
                <a:cs typeface="Verdana"/>
                <a:sym typeface="Verdana"/>
              </a:rPr>
              <a:t>Correlaciones con la valuación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11001375" y="438150"/>
            <a:ext cx="5715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s-ES" sz="1425" b="1" i="0" u="none" strike="noStrike" cap="none">
                <a:solidFill>
                  <a:srgbClr val="5B2A86"/>
                </a:solidFill>
                <a:latin typeface="Verdana"/>
                <a:ea typeface="Verdana"/>
                <a:cs typeface="Verdana"/>
                <a:sym typeface="Verdana"/>
              </a:rPr>
              <a:t>09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1322224"/>
            <a:ext cx="6381750" cy="449930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1"/>
          <p:cNvSpPr/>
          <p:nvPr/>
        </p:nvSpPr>
        <p:spPr>
          <a:xfrm>
            <a:off x="7334250" y="1428750"/>
            <a:ext cx="32385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s-ES" sz="3150" b="1" i="0" u="none" strike="noStrike" cap="none">
                <a:solidFill>
                  <a:srgbClr val="E76F51"/>
                </a:solidFill>
                <a:latin typeface="Verdana"/>
                <a:ea typeface="Verdana"/>
                <a:cs typeface="Verdana"/>
                <a:sym typeface="Verdana"/>
              </a:rPr>
              <a:t>0,960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7334250" y="1981200"/>
            <a:ext cx="32385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ES" sz="1350" b="0" i="0" u="none" strike="noStrike" cap="none">
                <a:solidFill>
                  <a:srgbClr val="5F6675"/>
                </a:solidFill>
                <a:latin typeface="Verdana"/>
                <a:ea typeface="Verdana"/>
                <a:cs typeface="Verdana"/>
                <a:sym typeface="Verdana"/>
              </a:rPr>
              <a:t>Funding vs. valuación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7334250" y="2714625"/>
            <a:ext cx="32385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s-ES" sz="3150" b="1" i="0" u="none" strike="noStrike" cap="none">
                <a:solidFill>
                  <a:srgbClr val="5B2A86"/>
                </a:solidFill>
                <a:latin typeface="Verdana"/>
                <a:ea typeface="Verdana"/>
                <a:cs typeface="Verdana"/>
                <a:sym typeface="Verdana"/>
              </a:rPr>
              <a:t>0,943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7334250" y="3267075"/>
            <a:ext cx="32385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ES" sz="1350" b="0" i="0" u="none" strike="noStrike" cap="none">
                <a:solidFill>
                  <a:srgbClr val="5F6675"/>
                </a:solidFill>
                <a:latin typeface="Verdana"/>
                <a:ea typeface="Verdana"/>
                <a:cs typeface="Verdana"/>
                <a:sym typeface="Verdana"/>
              </a:rPr>
              <a:t>ARR vs. valuación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7334250" y="4000500"/>
            <a:ext cx="32385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s-ES" sz="3150" b="1" i="0" u="none" strike="noStrike" cap="none">
                <a:solidFill>
                  <a:srgbClr val="1F8A8A"/>
                </a:solidFill>
                <a:latin typeface="Verdana"/>
                <a:ea typeface="Verdana"/>
                <a:cs typeface="Verdana"/>
                <a:sym typeface="Verdana"/>
              </a:rPr>
              <a:t>0,812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7334250" y="4552950"/>
            <a:ext cx="32385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ES" sz="1350" b="0" i="0" u="none" strike="noStrike" cap="none">
                <a:solidFill>
                  <a:srgbClr val="5F6675"/>
                </a:solidFill>
                <a:latin typeface="Verdana"/>
                <a:ea typeface="Verdana"/>
                <a:cs typeface="Verdana"/>
                <a:sym typeface="Verdana"/>
              </a:rPr>
              <a:t>Burn rate vs. valuación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7334250" y="5429250"/>
            <a:ext cx="33337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sz="1500" b="1">
                <a:solidFill>
                  <a:srgbClr val="5F677A"/>
                </a:solidFill>
                <a:latin typeface="Aptos"/>
              </a:rPr>
              <a:t>Año de fundación ≈ 0</a:t>
            </a:r>
          </a:p>
        </p:txBody>
      </p:sp>
      <p:sp>
        <p:nvSpPr>
          <p:cNvPr id="188" name="Google Shape;188;p11"/>
          <p:cNvSpPr/>
          <p:nvPr/>
        </p:nvSpPr>
        <p:spPr>
          <a:xfrm>
            <a:off x="609600" y="647700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ES" sz="975" b="0" i="0" u="none" strike="noStrike" cap="none">
                <a:solidFill>
                  <a:srgbClr val="7B8190"/>
                </a:solidFill>
                <a:latin typeface="Verdana"/>
                <a:ea typeface="Verdana"/>
                <a:cs typeface="Verdana"/>
                <a:sym typeface="Verdana"/>
              </a:rPr>
              <a:t>Global Tech Startups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11049000" y="647700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ES" sz="975" b="0" i="0" u="none" strike="noStrike" cap="none">
                <a:solidFill>
                  <a:srgbClr val="7B8190"/>
                </a:solidFill>
                <a:latin typeface="Verdana"/>
                <a:ea typeface="Verdana"/>
                <a:cs typeface="Verdana"/>
                <a:sym typeface="Verdana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713232" y="960120"/>
            <a:ext cx="6309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F677A"/>
                </a:solidFill>
                <a:latin typeface="Aptos"/>
              </a:rPr>
              <a:t>Correlación de Spearman · asociación monotónica, no causalidad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685800" y="5897880"/>
            <a:ext cx="10835640" cy="475488"/>
          </a:xfrm>
          <a:prstGeom prst="roundRect">
            <a:avLst/>
          </a:prstGeom>
          <a:solidFill>
            <a:srgbClr val="F4EFFA"/>
          </a:solidFill>
          <a:ln w="10160">
            <a:solidFill>
              <a:srgbClr val="D8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ounded Rectangle 191"/>
          <p:cNvSpPr/>
          <p:nvPr/>
        </p:nvSpPr>
        <p:spPr>
          <a:xfrm>
            <a:off x="841248" y="5980176"/>
            <a:ext cx="1051560" cy="310896"/>
          </a:xfrm>
          <a:prstGeom prst="roundRect">
            <a:avLst/>
          </a:prstGeom>
          <a:solidFill>
            <a:srgbClr val="5C2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Conclusión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2029968" y="5948172"/>
            <a:ext cx="918972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0">
                <a:solidFill>
                  <a:srgbClr val="090E2A"/>
                </a:solidFill>
                <a:latin typeface="Aptos"/>
              </a:rPr>
              <a:t>Funding y ARR muestran la asociación más fuerte con la valuación; el año de fundación casi no se relaciona.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A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609600" y="361950"/>
            <a:ext cx="100965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ES" sz="3000" b="1" i="0" u="none" strike="noStrike" cap="none">
                <a:solidFill>
                  <a:srgbClr val="0B1026"/>
                </a:solidFill>
                <a:latin typeface="Verdana"/>
                <a:ea typeface="Verdana"/>
                <a:cs typeface="Verdana"/>
                <a:sym typeface="Verdana"/>
              </a:rPr>
              <a:t>Diseño del modelo predictivo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11001375" y="438150"/>
            <a:ext cx="5715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s-ES" sz="1425" b="1" i="0" u="none" strike="noStrike" cap="none">
                <a:solidFill>
                  <a:srgbClr val="5B2A86"/>
                </a:solidFill>
                <a:latin typeface="Verdana"/>
                <a:ea typeface="Verdana"/>
                <a:cs typeface="Verdana"/>
                <a:sym typeface="Verdana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523875" y="2238375"/>
            <a:ext cx="1809750" cy="1476375"/>
          </a:xfrm>
          <a:prstGeom prst="roundRect">
            <a:avLst>
              <a:gd name="adj" fmla="val 14194"/>
            </a:avLst>
          </a:prstGeom>
          <a:solidFill>
            <a:srgbClr val="FBEDE8"/>
          </a:solidFill>
          <a:ln w="9525" cap="flat" cmpd="sng">
            <a:solidFill>
              <a:srgbClr val="D9DC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695325" y="2400300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ES" sz="975" b="1" i="0" u="none" strike="noStrike" cap="none">
                <a:solidFill>
                  <a:srgbClr val="E76F51"/>
                </a:solidFill>
                <a:latin typeface="Verdana"/>
                <a:ea typeface="Verdana"/>
                <a:cs typeface="Verdana"/>
                <a:sym typeface="Verdana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695325" y="2781300"/>
            <a:ext cx="1524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s-ES" sz="1425" b="1" i="0" u="none" strike="noStrike" cap="none">
                <a:solidFill>
                  <a:srgbClr val="0B1026"/>
                </a:solidFill>
                <a:latin typeface="Verdana"/>
                <a:ea typeface="Verdana"/>
                <a:cs typeface="Verdana"/>
                <a:sym typeface="Verdana"/>
              </a:rPr>
              <a:t>Datos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695325" y="3181350"/>
            <a:ext cx="1476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es-ES" sz="1275" b="0" i="0" u="none" strike="noStrike" cap="none">
                <a:solidFill>
                  <a:srgbClr val="5F6675"/>
                </a:solidFill>
                <a:latin typeface="Verdana"/>
                <a:ea typeface="Verdana"/>
                <a:cs typeface="Verdana"/>
                <a:sym typeface="Verdana"/>
              </a:rPr>
              <a:t>25.000 registros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2857500" y="2238375"/>
            <a:ext cx="1809750" cy="1476375"/>
          </a:xfrm>
          <a:prstGeom prst="roundRect">
            <a:avLst>
              <a:gd name="adj" fmla="val 14194"/>
            </a:avLst>
          </a:prstGeom>
          <a:solidFill>
            <a:srgbClr val="EDE8F7"/>
          </a:solidFill>
          <a:ln w="9525" cap="flat" cmpd="sng">
            <a:solidFill>
              <a:srgbClr val="D9DC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3028950" y="2400300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ES" sz="975" b="1" i="0" u="none" strike="noStrike" cap="none">
                <a:solidFill>
                  <a:srgbClr val="5B2A86"/>
                </a:solidFill>
                <a:latin typeface="Verdana"/>
                <a:ea typeface="Verdana"/>
                <a:cs typeface="Verdana"/>
                <a:sym typeface="Verdana"/>
              </a:rPr>
              <a:t>02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3028950" y="2781300"/>
            <a:ext cx="1524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s-ES" sz="1425" b="1" i="0" u="none" strike="noStrike" cap="none">
                <a:solidFill>
                  <a:srgbClr val="0B1026"/>
                </a:solidFill>
                <a:latin typeface="Verdana"/>
                <a:ea typeface="Verdana"/>
                <a:cs typeface="Verdana"/>
                <a:sym typeface="Verdana"/>
              </a:rPr>
              <a:t>Preparación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3028950" y="3181350"/>
            <a:ext cx="1476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es-ES" sz="1275" b="0" i="0" u="none" strike="noStrike" cap="none">
                <a:solidFill>
                  <a:srgbClr val="5F6675"/>
                </a:solidFill>
                <a:latin typeface="Verdana"/>
                <a:ea typeface="Verdana"/>
                <a:cs typeface="Verdana"/>
                <a:sym typeface="Verdana"/>
              </a:rPr>
              <a:t>Imputación y encoding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5191125" y="2238375"/>
            <a:ext cx="1809750" cy="1476375"/>
          </a:xfrm>
          <a:prstGeom prst="roundRect">
            <a:avLst>
              <a:gd name="adj" fmla="val 14194"/>
            </a:avLst>
          </a:prstGeom>
          <a:solidFill>
            <a:srgbClr val="DDF2F1"/>
          </a:solidFill>
          <a:ln w="9525" cap="flat" cmpd="sng">
            <a:solidFill>
              <a:srgbClr val="D9DC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5362575" y="2400300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ES" sz="975" b="1" i="0" u="none" strike="noStrike" cap="none">
                <a:solidFill>
                  <a:srgbClr val="1F8A8A"/>
                </a:solidFill>
                <a:latin typeface="Verdana"/>
                <a:ea typeface="Verdana"/>
                <a:cs typeface="Verdana"/>
                <a:sym typeface="Verdana"/>
              </a:rPr>
              <a:t>03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5362575" y="2781300"/>
            <a:ext cx="1524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s-ES" sz="1425" b="1" i="0" u="none" strike="noStrike" cap="none">
                <a:solidFill>
                  <a:srgbClr val="0B1026"/>
                </a:solidFill>
                <a:latin typeface="Verdana"/>
                <a:ea typeface="Verdana"/>
                <a:cs typeface="Verdana"/>
                <a:sym typeface="Verdana"/>
              </a:rPr>
              <a:t>Partición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5362575" y="3181350"/>
            <a:ext cx="1476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es-ES" sz="1275" b="0" i="0" u="none" strike="noStrike" cap="none">
                <a:solidFill>
                  <a:srgbClr val="5F6675"/>
                </a:solidFill>
                <a:latin typeface="Verdana"/>
                <a:ea typeface="Verdana"/>
                <a:cs typeface="Verdana"/>
                <a:sym typeface="Verdana"/>
              </a:rPr>
              <a:t>80% train, 20% test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7524750" y="2238375"/>
            <a:ext cx="1809750" cy="1476375"/>
          </a:xfrm>
          <a:prstGeom prst="roundRect">
            <a:avLst>
              <a:gd name="adj" fmla="val 14194"/>
            </a:avLst>
          </a:prstGeom>
          <a:solidFill>
            <a:srgbClr val="EDE8F7"/>
          </a:solidFill>
          <a:ln w="9525" cap="flat" cmpd="sng">
            <a:solidFill>
              <a:srgbClr val="D9DC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7696200" y="2400300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ES" sz="975" b="1" i="0" u="none" strike="noStrike" cap="none">
                <a:solidFill>
                  <a:srgbClr val="5B2A86"/>
                </a:solidFill>
                <a:latin typeface="Verdana"/>
                <a:ea typeface="Verdana"/>
                <a:cs typeface="Verdana"/>
                <a:sym typeface="Verdana"/>
              </a:rPr>
              <a:t>04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7696200" y="2781300"/>
            <a:ext cx="1524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s-ES" sz="1425" b="1" i="0" u="none" strike="noStrike" cap="none">
                <a:solidFill>
                  <a:srgbClr val="0B1026"/>
                </a:solidFill>
                <a:latin typeface="Verdana"/>
                <a:ea typeface="Verdana"/>
                <a:cs typeface="Verdana"/>
                <a:sym typeface="Verdana"/>
              </a:rPr>
              <a:t>Modelos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7696200" y="3181350"/>
            <a:ext cx="1476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es-ES" sz="1275" b="0" i="0" u="none" strike="noStrike" cap="none">
                <a:solidFill>
                  <a:srgbClr val="5F6675"/>
                </a:solidFill>
                <a:latin typeface="Verdana"/>
                <a:ea typeface="Verdana"/>
                <a:cs typeface="Verdana"/>
                <a:sym typeface="Verdana"/>
              </a:rPr>
              <a:t>Lineal, RF y GB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9858375" y="2238375"/>
            <a:ext cx="1809750" cy="1476375"/>
          </a:xfrm>
          <a:prstGeom prst="roundRect">
            <a:avLst>
              <a:gd name="adj" fmla="val 14194"/>
            </a:avLst>
          </a:prstGeom>
          <a:solidFill>
            <a:srgbClr val="FBEDE8"/>
          </a:solidFill>
          <a:ln w="9525" cap="flat" cmpd="sng">
            <a:solidFill>
              <a:srgbClr val="D9DC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10029825" y="2400300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ES" sz="975" b="1" i="0" u="none" strike="noStrike" cap="none">
                <a:solidFill>
                  <a:srgbClr val="E76F51"/>
                </a:solidFill>
                <a:latin typeface="Verdana"/>
                <a:ea typeface="Verdana"/>
                <a:cs typeface="Verdana"/>
                <a:sym typeface="Verdana"/>
              </a:rPr>
              <a:t>05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10029825" y="2781300"/>
            <a:ext cx="1524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s-ES" sz="1425" b="1" i="0" u="none" strike="noStrike" cap="none">
                <a:solidFill>
                  <a:srgbClr val="0B1026"/>
                </a:solidFill>
                <a:latin typeface="Verdana"/>
                <a:ea typeface="Verdana"/>
                <a:cs typeface="Verdana"/>
                <a:sym typeface="Verdana"/>
              </a:rPr>
              <a:t>Evaluación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10029825" y="3181350"/>
            <a:ext cx="1476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es-ES" sz="1275" b="0" i="0" u="none" strike="noStrike" cap="none">
                <a:solidFill>
                  <a:srgbClr val="5F6675"/>
                </a:solidFill>
                <a:latin typeface="Verdana"/>
                <a:ea typeface="Verdana"/>
                <a:cs typeface="Verdana"/>
                <a:sym typeface="Verdana"/>
              </a:rPr>
              <a:t>MAE, RMSE y R²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2428875" y="2781300"/>
            <a:ext cx="285750" cy="266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F667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4762500" y="2781300"/>
            <a:ext cx="285750" cy="266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F667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7096125" y="2781300"/>
            <a:ext cx="285750" cy="266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F667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9429750" y="2781300"/>
            <a:ext cx="285750" cy="266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F667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857250" y="4524375"/>
            <a:ext cx="2705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ES" sz="1350" b="1" i="0" u="none" strike="noStrike" cap="none">
                <a:solidFill>
                  <a:srgbClr val="5F6675"/>
                </a:solidFill>
                <a:latin typeface="Verdana"/>
                <a:ea typeface="Verdana"/>
                <a:cs typeface="Verdana"/>
                <a:sym typeface="Verdana"/>
              </a:rPr>
              <a:t>Variable 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714300" y="5000613"/>
            <a:ext cx="3714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sz="2000" b="1">
                <a:solidFill>
                  <a:srgbClr val="5C2B91"/>
                </a:solidFill>
                <a:latin typeface="Aptos"/>
              </a:rPr>
              <a:t>log(Valuación)</a:t>
            </a:r>
          </a:p>
        </p:txBody>
      </p:sp>
      <p:sp>
        <p:nvSpPr>
          <p:cNvPr id="224" name="Google Shape;224;p12"/>
          <p:cNvSpPr/>
          <p:nvPr/>
        </p:nvSpPr>
        <p:spPr>
          <a:xfrm>
            <a:off x="5334000" y="4524375"/>
            <a:ext cx="142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ES" sz="1350" b="1" i="0" u="none" strike="noStrike" cap="none">
                <a:solidFill>
                  <a:srgbClr val="5F6675"/>
                </a:solidFill>
                <a:latin typeface="Verdana"/>
                <a:ea typeface="Verdana"/>
                <a:cs typeface="Verdana"/>
                <a:sym typeface="Verdana"/>
              </a:rPr>
              <a:t>Predictores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5334000" y="4876800"/>
            <a:ext cx="5524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s-ES" sz="1650" b="0" i="0" u="none" strike="noStrike" cap="none">
                <a:solidFill>
                  <a:srgbClr val="172033"/>
                </a:solidFill>
                <a:latin typeface="Verdana"/>
                <a:ea typeface="Verdana"/>
                <a:cs typeface="Verdana"/>
                <a:sym typeface="Verdana"/>
              </a:rPr>
              <a:t>Variables financieras, tecnológicas y geográficas disponibles antes de la predicción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2381250" y="5532120"/>
            <a:ext cx="742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sz="1019" b="1">
                <a:solidFill>
                  <a:srgbClr val="5F677A"/>
                </a:solidFill>
                <a:latin typeface="Aptos"/>
              </a:rPr>
              <a:t>Se excluye Company_ID y cualquier variable que contenga el target para evitar leakage.</a:t>
            </a:r>
          </a:p>
        </p:txBody>
      </p:sp>
      <p:sp>
        <p:nvSpPr>
          <p:cNvPr id="227" name="Google Shape;227;p12"/>
          <p:cNvSpPr/>
          <p:nvPr/>
        </p:nvSpPr>
        <p:spPr>
          <a:xfrm>
            <a:off x="609600" y="647700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ES" sz="975" b="0" i="0" u="none" strike="noStrike" cap="none">
                <a:solidFill>
                  <a:srgbClr val="7B8190"/>
                </a:solidFill>
                <a:latin typeface="Verdana"/>
                <a:ea typeface="Verdana"/>
                <a:cs typeface="Verdana"/>
                <a:sym typeface="Verdana"/>
              </a:rPr>
              <a:t>Global Tech Startups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11049000" y="647700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ES" sz="975" b="0" i="0" u="none" strike="noStrike" cap="none">
                <a:solidFill>
                  <a:srgbClr val="7B8190"/>
                </a:solidFill>
                <a:latin typeface="Verdana"/>
                <a:ea typeface="Verdana"/>
                <a:cs typeface="Verdana"/>
                <a:sym typeface="Verdana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TextBox 228"/>
          <p:cNvSpPr txBox="1"/>
          <p:nvPr/>
        </p:nvSpPr>
        <p:spPr>
          <a:xfrm>
            <a:off x="713232" y="960120"/>
            <a:ext cx="6766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F677A"/>
                </a:solidFill>
                <a:latin typeface="Aptos"/>
              </a:rPr>
              <a:t>Un mismo pipeline para preparar, entrenar y comparar los modelos en condiciones equivalentes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713232" y="5257800"/>
            <a:ext cx="3840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5F677A"/>
                </a:solidFill>
                <a:latin typeface="Aptos"/>
              </a:rPr>
              <a:t>Luego se vuelve a USD millones para interpretar los errores.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685800" y="5852160"/>
            <a:ext cx="10835640" cy="475488"/>
          </a:xfrm>
          <a:prstGeom prst="roundRect">
            <a:avLst/>
          </a:prstGeom>
          <a:solidFill>
            <a:srgbClr val="EAF7F7"/>
          </a:solidFill>
          <a:ln w="10160">
            <a:solidFill>
              <a:srgbClr val="D8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ounded Rectangle 231"/>
          <p:cNvSpPr/>
          <p:nvPr/>
        </p:nvSpPr>
        <p:spPr>
          <a:xfrm>
            <a:off x="841248" y="5934456"/>
            <a:ext cx="1051560" cy="310896"/>
          </a:xfrm>
          <a:prstGeom prst="roundRect">
            <a:avLst/>
          </a:prstGeom>
          <a:solidFill>
            <a:srgbClr val="19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Conclusión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2029968" y="5902452"/>
            <a:ext cx="918972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0">
                <a:solidFill>
                  <a:srgbClr val="090E2A"/>
                </a:solidFill>
                <a:latin typeface="Aptos"/>
              </a:rPr>
              <a:t>La transformación logarítmica reduce el peso de valuaciones extremas y permite una comparación más estable entre modelos.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A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609600" y="361950"/>
            <a:ext cx="100965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sz="2800" b="1">
                <a:solidFill>
                  <a:srgbClr val="090E2A"/>
                </a:solidFill>
                <a:latin typeface="Aptos Display"/>
              </a:rPr>
              <a:t>Gradient Boosting: mejor R² log</a:t>
            </a:r>
          </a:p>
        </p:txBody>
      </p:sp>
      <p:sp>
        <p:nvSpPr>
          <p:cNvPr id="236" name="Google Shape;236;p13"/>
          <p:cNvSpPr/>
          <p:nvPr/>
        </p:nvSpPr>
        <p:spPr>
          <a:xfrm>
            <a:off x="11001375" y="438150"/>
            <a:ext cx="5715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s-ES" sz="1425" b="1" i="0" u="none" strike="noStrike" cap="none">
                <a:solidFill>
                  <a:srgbClr val="5B2A86"/>
                </a:solidFill>
                <a:latin typeface="Verdana"/>
                <a:ea typeface="Verdana"/>
                <a:cs typeface="Verdana"/>
                <a:sym typeface="Verdana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476375"/>
            <a:ext cx="7239000" cy="40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3"/>
          <p:cNvSpPr/>
          <p:nvPr/>
        </p:nvSpPr>
        <p:spPr>
          <a:xfrm>
            <a:off x="8524875" y="1571625"/>
            <a:ext cx="27622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s-ES" sz="3150" b="1" i="0" u="none" strike="noStrike" cap="none">
                <a:solidFill>
                  <a:srgbClr val="E76F51"/>
                </a:solidFill>
                <a:latin typeface="Verdana"/>
                <a:ea typeface="Verdana"/>
                <a:cs typeface="Verdana"/>
                <a:sym typeface="Verdana"/>
              </a:rPr>
              <a:t>0,973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8524875" y="2124075"/>
            <a:ext cx="27622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ES" sz="1350" b="0" i="0" u="none" strike="noStrike" cap="none">
                <a:solidFill>
                  <a:srgbClr val="5F6675"/>
                </a:solidFill>
                <a:latin typeface="Verdana"/>
                <a:ea typeface="Verdana"/>
                <a:cs typeface="Verdana"/>
                <a:sym typeface="Verdana"/>
              </a:rPr>
              <a:t>R² sobre log(valuación)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8524875" y="3000375"/>
            <a:ext cx="29527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s-ES" sz="3150" b="1" i="0" u="none" strike="noStrike" cap="none">
                <a:solidFill>
                  <a:srgbClr val="5B2A86"/>
                </a:solidFill>
                <a:latin typeface="Verdana"/>
                <a:ea typeface="Verdana"/>
                <a:cs typeface="Verdana"/>
                <a:sym typeface="Verdana"/>
              </a:rPr>
              <a:t>USD 111 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8524875" y="3552825"/>
            <a:ext cx="29527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ES" sz="1350" b="0" i="0" u="none" strike="noStrike" cap="none">
                <a:solidFill>
                  <a:srgbClr val="5F6675"/>
                </a:solidFill>
                <a:latin typeface="Verdana"/>
                <a:ea typeface="Verdana"/>
                <a:cs typeface="Verdana"/>
                <a:sym typeface="Verdana"/>
              </a:rPr>
              <a:t>MAE en escala original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8524875" y="4429125"/>
            <a:ext cx="29527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s-ES" sz="3150" b="1" i="0" u="none" strike="noStrike" cap="none">
                <a:solidFill>
                  <a:srgbClr val="1F8A8A"/>
                </a:solidFill>
                <a:latin typeface="Verdana"/>
                <a:ea typeface="Verdana"/>
                <a:cs typeface="Verdana"/>
                <a:sym typeface="Verdana"/>
              </a:rPr>
              <a:t>USD 768 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8524875" y="4981575"/>
            <a:ext cx="29527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ES" sz="1350" b="0" i="0" u="none" strike="noStrike" cap="none">
                <a:solidFill>
                  <a:srgbClr val="5F6675"/>
                </a:solidFill>
                <a:latin typeface="Verdana"/>
                <a:ea typeface="Verdana"/>
                <a:cs typeface="Verdana"/>
                <a:sym typeface="Verdana"/>
              </a:rPr>
              <a:t>RMSE en escala original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609600" y="647700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ES" sz="975" b="0" i="0" u="none" strike="noStrike" cap="none">
                <a:solidFill>
                  <a:srgbClr val="7B8190"/>
                </a:solidFill>
                <a:latin typeface="Verdana"/>
                <a:ea typeface="Verdana"/>
                <a:cs typeface="Verdana"/>
                <a:sym typeface="Verdana"/>
              </a:rPr>
              <a:t>Global Tech Startups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11049000" y="647700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ES" sz="975" b="0" i="0" u="none" strike="noStrike" cap="none">
                <a:solidFill>
                  <a:srgbClr val="7B8190"/>
                </a:solidFill>
                <a:latin typeface="Verdana"/>
                <a:ea typeface="Verdana"/>
                <a:cs typeface="Verdana"/>
                <a:sym typeface="Verdana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TextBox 245"/>
          <p:cNvSpPr txBox="1"/>
          <p:nvPr/>
        </p:nvSpPr>
        <p:spPr>
          <a:xfrm>
            <a:off x="713232" y="960120"/>
            <a:ext cx="6583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F677A"/>
                </a:solidFill>
                <a:latin typeface="Aptos"/>
              </a:rPr>
              <a:t>Comparación de modelos sobre la variable objetivo transformada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8503920" y="1143000"/>
            <a:ext cx="2423160" cy="301752"/>
          </a:xfrm>
          <a:prstGeom prst="roundRect">
            <a:avLst/>
          </a:prstGeom>
          <a:solidFill>
            <a:srgbClr val="FDF0EB"/>
          </a:solidFill>
          <a:ln>
            <a:solidFill>
              <a:srgbClr val="F4C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EB694A"/>
                </a:solidFill>
                <a:latin typeface="Aptos"/>
              </a:rPr>
              <a:t>Criterio principal: R² log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685800" y="5870448"/>
            <a:ext cx="10835640" cy="475488"/>
          </a:xfrm>
          <a:prstGeom prst="roundRect">
            <a:avLst/>
          </a:prstGeom>
          <a:solidFill>
            <a:srgbClr val="FDF0EB"/>
          </a:solidFill>
          <a:ln w="10160">
            <a:solidFill>
              <a:srgbClr val="D8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Rounded Rectangle 248"/>
          <p:cNvSpPr/>
          <p:nvPr/>
        </p:nvSpPr>
        <p:spPr>
          <a:xfrm>
            <a:off x="841248" y="5952744"/>
            <a:ext cx="1051560" cy="310896"/>
          </a:xfrm>
          <a:prstGeom prst="roundRect">
            <a:avLst/>
          </a:prstGeom>
          <a:solidFill>
            <a:srgbClr val="EB6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Conclusión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2029968" y="5920740"/>
            <a:ext cx="9189720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0">
                <a:solidFill>
                  <a:srgbClr val="090E2A"/>
                </a:solidFill>
                <a:latin typeface="Aptos"/>
              </a:rPr>
              <a:t>Gradient Boosting lidera en R² log y MAE. Random Forest queda muy cerca y obtiene mejor RMSE y R² en escala original.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A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609600" y="361950"/>
            <a:ext cx="100965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ES" sz="3000" b="1" i="0" u="none" strike="noStrike" cap="none">
                <a:solidFill>
                  <a:srgbClr val="0B1026"/>
                </a:solidFill>
                <a:latin typeface="Verdana"/>
                <a:ea typeface="Verdana"/>
                <a:cs typeface="Verdana"/>
                <a:sym typeface="Verdana"/>
              </a:rPr>
              <a:t>La validación cruzada confirma estabilidad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11001375" y="438150"/>
            <a:ext cx="5715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s-ES" sz="1425" b="1" i="0" u="none" strike="noStrike" cap="none">
                <a:solidFill>
                  <a:srgbClr val="5B2A86"/>
                </a:solidFill>
                <a:latin typeface="Verdana"/>
                <a:ea typeface="Verdana"/>
                <a:cs typeface="Verdana"/>
                <a:sym typeface="Verdana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19250"/>
            <a:ext cx="4857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6425" y="1190625"/>
            <a:ext cx="4422650" cy="442912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4"/>
          <p:cNvSpPr/>
          <p:nvPr/>
        </p:nvSpPr>
        <p:spPr>
          <a:xfrm>
            <a:off x="609600" y="647700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ES" sz="975" b="0" i="0" u="none" strike="noStrike" cap="none">
                <a:solidFill>
                  <a:srgbClr val="7B8190"/>
                </a:solidFill>
                <a:latin typeface="Verdana"/>
                <a:ea typeface="Verdana"/>
                <a:cs typeface="Verdana"/>
                <a:sym typeface="Verdana"/>
              </a:rPr>
              <a:t>Global Tech Startups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11049000" y="647700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s-ES" sz="975" b="0" i="0" u="none" strike="noStrike" cap="none">
                <a:solidFill>
                  <a:srgbClr val="7B8190"/>
                </a:solidFill>
                <a:latin typeface="Verdana"/>
                <a:ea typeface="Verdana"/>
                <a:cs typeface="Verdana"/>
                <a:sym typeface="Verdana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TextBox 260"/>
          <p:cNvSpPr txBox="1"/>
          <p:nvPr/>
        </p:nvSpPr>
        <p:spPr>
          <a:xfrm>
            <a:off x="713232" y="960120"/>
            <a:ext cx="7132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10" b="0">
                <a:solidFill>
                  <a:srgbClr val="5F677A"/>
                </a:solidFill>
                <a:latin typeface="Aptos"/>
              </a:rPr>
              <a:t>5 particiones · cada registro se usa una vez para validar el modelo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1051560" y="5193792"/>
            <a:ext cx="1965960" cy="713232"/>
          </a:xfrm>
          <a:prstGeom prst="roundRect">
            <a:avLst/>
          </a:prstGeom>
          <a:solidFill>
            <a:srgbClr val="F5F0FA"/>
          </a:solidFill>
          <a:ln w="8890"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1197863" y="5266944"/>
            <a:ext cx="167335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5C2B91"/>
                </a:solidFill>
                <a:latin typeface="Aptos Display"/>
              </a:rPr>
              <a:t>0,9735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1197863" y="5586983"/>
            <a:ext cx="1673351" cy="265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F677A"/>
                </a:solidFill>
                <a:latin typeface="Aptos"/>
              </a:rPr>
              <a:t>R² promedio en 5 particiones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3182112" y="5193792"/>
            <a:ext cx="1965960" cy="713232"/>
          </a:xfrm>
          <a:prstGeom prst="roundRect">
            <a:avLst/>
          </a:prstGeom>
          <a:solidFill>
            <a:srgbClr val="ECF8F8"/>
          </a:solidFill>
          <a:ln w="8890"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265"/>
          <p:cNvSpPr txBox="1"/>
          <p:nvPr/>
        </p:nvSpPr>
        <p:spPr>
          <a:xfrm>
            <a:off x="3328416" y="5266944"/>
            <a:ext cx="167335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98F91"/>
                </a:solidFill>
                <a:latin typeface="Aptos Display"/>
              </a:rPr>
              <a:t>0,0005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3328416" y="5586983"/>
            <a:ext cx="1673351" cy="265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F677A"/>
                </a:solidFill>
                <a:latin typeface="Aptos"/>
              </a:rPr>
              <a:t>Desvío entre particiones</a:t>
            </a:r>
          </a:p>
        </p:txBody>
      </p:sp>
      <p:sp>
        <p:nvSpPr>
          <p:cNvPr id="269" name="Rounded Rectangle 268"/>
          <p:cNvSpPr/>
          <p:nvPr/>
        </p:nvSpPr>
        <p:spPr>
          <a:xfrm>
            <a:off x="685800" y="5961888"/>
            <a:ext cx="10835640" cy="420624"/>
          </a:xfrm>
          <a:prstGeom prst="roundRect">
            <a:avLst/>
          </a:prstGeom>
          <a:solidFill>
            <a:srgbClr val="F5F0FA"/>
          </a:solidFill>
          <a:ln w="10160"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Rounded Rectangle 269"/>
          <p:cNvSpPr/>
          <p:nvPr/>
        </p:nvSpPr>
        <p:spPr>
          <a:xfrm>
            <a:off x="822960" y="6030468"/>
            <a:ext cx="1024128" cy="283464"/>
          </a:xfrm>
          <a:prstGeom prst="roundRect">
            <a:avLst/>
          </a:prstGeom>
          <a:solidFill>
            <a:srgbClr val="5C2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Conclusión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1993392" y="5989320"/>
            <a:ext cx="9189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30" b="0">
                <a:solidFill>
                  <a:srgbClr val="090E2A"/>
                </a:solidFill>
                <a:latin typeface="Aptos"/>
              </a:rPr>
              <a:t>Los cinco R² son casi idénticos (0,9730–0,9742): el desempeño no depende de una única división de los datos.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6492240" y="960120"/>
            <a:ext cx="4343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40" b="1">
                <a:solidFill>
                  <a:srgbClr val="5F677A"/>
                </a:solidFill>
                <a:latin typeface="Aptos"/>
              </a:rPr>
              <a:t>Real vs. predicho · ideal: puntos cercanos a la diagonal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111836"/>
                </a:solidFill>
                <a:latin typeface="Verdana"/>
              </a:rPr>
              <a:t>Análisis de errores del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20624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663399"/>
                </a:solidFill>
                <a:latin typeface="Verdana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987552"/>
            <a:ext cx="2432304" cy="347472"/>
          </a:xfrm>
          <a:prstGeom prst="roundRect">
            <a:avLst/>
          </a:prstGeom>
          <a:solidFill>
            <a:srgbClr val="F6F2FA"/>
          </a:solidFill>
          <a:ln>
            <a:solidFill>
              <a:srgbClr val="F6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024128"/>
            <a:ext cx="33375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19" b="1">
                <a:solidFill>
                  <a:srgbClr val="5C2B91"/>
                </a:solidFill>
              </a:rPr>
              <a:t>Gradient Boosting · test set · residuos en escala logarítmica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44752"/>
            <a:ext cx="7479792" cy="3072384"/>
          </a:xfrm>
          <a:prstGeom prst="roundRect">
            <a:avLst/>
          </a:prstGeom>
          <a:solidFill>
            <a:srgbClr val="FFFFFF"/>
          </a:solidFill>
          <a:ln>
            <a:solidFill>
              <a:srgbClr val="E4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esidual_analysis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581912"/>
            <a:ext cx="7223760" cy="26334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66760" y="144475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282A38"/>
                </a:solidFill>
                <a:latin typeface="Verdana"/>
              </a:rPr>
              <a:t>Lectura del gráfico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847088"/>
            <a:ext cx="3108960" cy="960120"/>
          </a:xfrm>
          <a:prstGeom prst="roundRect">
            <a:avLst/>
          </a:prstGeom>
          <a:solidFill>
            <a:srgbClr val="FDF1EC"/>
          </a:solidFill>
          <a:ln>
            <a:solidFill>
              <a:srgbClr val="FD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77072" y="2011680"/>
            <a:ext cx="2688336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60" b="1">
                <a:solidFill>
                  <a:srgbClr val="EB694A"/>
                </a:solidFill>
              </a:rPr>
              <a:t>La mayor parte de los residuos se concentra cerca de cero: el modelo acierta razonablemente bien en la mayoría de los casos.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2953512"/>
            <a:ext cx="3108960" cy="841248"/>
          </a:xfrm>
          <a:prstGeom prst="roundRect">
            <a:avLst/>
          </a:prstGeom>
          <a:solidFill>
            <a:srgbClr val="F6F2FA"/>
          </a:solidFill>
          <a:ln>
            <a:solidFill>
              <a:srgbClr val="F6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77072" y="3090672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0" b="1">
                <a:solidFill>
                  <a:srgbClr val="663399"/>
                </a:solidFill>
                <a:latin typeface="Verdana"/>
              </a:rPr>
              <a:t>Residuo = real − predicho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364992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90" b="0">
                <a:solidFill>
                  <a:srgbClr val="5F6273"/>
                </a:solidFill>
                <a:latin typeface="Verdana"/>
              </a:rPr>
              <a:t>Positivo: subestimación   ·   Negativo: sobreestimación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3941063"/>
            <a:ext cx="3108960" cy="576072"/>
          </a:xfrm>
          <a:prstGeom prst="roundRect">
            <a:avLst/>
          </a:prstGeom>
          <a:solidFill>
            <a:srgbClr val="ECF7F6"/>
          </a:solidFill>
          <a:ln>
            <a:solidFill>
              <a:srgbClr val="EC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77072" y="4032504"/>
            <a:ext cx="269748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40" b="1">
                <a:solidFill>
                  <a:srgbClr val="198F91"/>
                </a:solidFill>
              </a:rPr>
              <a:t>El error crece con el tamaño de la startup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4242816"/>
            <a:ext cx="2697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1">
                <a:solidFill>
                  <a:srgbClr val="282A38"/>
                </a:solidFill>
                <a:latin typeface="Verdana"/>
              </a:rPr>
              <a:t>USD 8 M  →  54 M  →  228 M  →  1.235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47365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82A38"/>
                </a:solidFill>
                <a:latin typeface="Verdana"/>
              </a:rPr>
              <a:t>Resumen de errores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" y="5138928"/>
            <a:ext cx="2148840" cy="841248"/>
          </a:xfrm>
          <a:prstGeom prst="roundRect">
            <a:avLst/>
          </a:prstGeom>
          <a:solidFill>
            <a:srgbClr val="F6F2FA"/>
          </a:solidFill>
          <a:ln>
            <a:solidFill>
              <a:srgbClr val="F6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5257800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20" b="1">
                <a:solidFill>
                  <a:srgbClr val="663399"/>
                </a:solidFill>
                <a:latin typeface="Verdana"/>
              </a:rPr>
              <a:t>USD 12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14416"/>
            <a:ext cx="192938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60" b="0">
                <a:solidFill>
                  <a:srgbClr val="5F6273"/>
                </a:solidFill>
                <a:latin typeface="Verdana"/>
              </a:rPr>
              <a:t>Error absoluto mediano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44368" y="5138928"/>
            <a:ext cx="2148840" cy="841248"/>
          </a:xfrm>
          <a:prstGeom prst="roundRect">
            <a:avLst/>
          </a:prstGeom>
          <a:solidFill>
            <a:srgbClr val="ECF7F6"/>
          </a:solidFill>
          <a:ln>
            <a:solidFill>
              <a:srgbClr val="EC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81528" y="5257800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20" b="1">
                <a:solidFill>
                  <a:srgbClr val="2A918F"/>
                </a:solidFill>
                <a:latin typeface="Verdana"/>
              </a:rPr>
              <a:t>USD 111 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54096" y="5614416"/>
            <a:ext cx="192938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60" b="0">
                <a:solidFill>
                  <a:srgbClr val="5F6273"/>
                </a:solidFill>
                <a:latin typeface="Verdana"/>
              </a:rPr>
              <a:t>MAE promedio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21224" y="5138928"/>
            <a:ext cx="2148840" cy="841248"/>
          </a:xfrm>
          <a:prstGeom prst="roundRect">
            <a:avLst/>
          </a:prstGeom>
          <a:solidFill>
            <a:srgbClr val="FDF1EC"/>
          </a:solidFill>
          <a:ln>
            <a:solidFill>
              <a:srgbClr val="FD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58384" y="5257800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20" b="1">
                <a:solidFill>
                  <a:srgbClr val="E76F51"/>
                </a:solidFill>
                <a:latin typeface="Verdana"/>
              </a:rPr>
              <a:t>USD 197 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0952" y="5614416"/>
            <a:ext cx="192938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19">
                <a:solidFill>
                  <a:srgbClr val="5F677A"/>
                </a:solidFill>
              </a:rPr>
              <a:t>90% de los errores ≤ este valor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5138928"/>
            <a:ext cx="3977639" cy="841248"/>
          </a:xfrm>
          <a:prstGeom prst="roundRect">
            <a:avLst/>
          </a:prstGeom>
          <a:solidFill>
            <a:srgbClr val="F8F8FB"/>
          </a:solidFill>
          <a:ln>
            <a:solidFill>
              <a:srgbClr val="F8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35240" y="5257800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20" b="1">
                <a:solidFill>
                  <a:srgbClr val="282A38"/>
                </a:solidFill>
                <a:latin typeface="Verdana"/>
              </a:rPr>
              <a:t>USD 46.047 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7" y="5614416"/>
            <a:ext cx="3758183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60" b="0">
                <a:solidFill>
                  <a:srgbClr val="5F6273"/>
                </a:solidFill>
                <a:latin typeface="Verdana"/>
              </a:rPr>
              <a:t>Mayor error absoluto · startup Post-IPO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6510528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20" b="0">
                <a:solidFill>
                  <a:srgbClr val="9699A8"/>
                </a:solidFill>
                <a:latin typeface="Verdana"/>
              </a:rPr>
              <a:t>Global Tech Startups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6473952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20" b="0">
                <a:solidFill>
                  <a:srgbClr val="9699A8"/>
                </a:solidFill>
                <a:latin typeface="Verdana"/>
              </a:rPr>
              <a:t>Fuente: notebook · análisis de residuos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0">
                <a:solidFill>
                  <a:srgbClr val="9699A8"/>
                </a:solidFill>
                <a:latin typeface="Verdana"/>
              </a:rPr>
              <a:t>13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6035040"/>
            <a:ext cx="10835640" cy="384048"/>
          </a:xfrm>
          <a:prstGeom prst="roundRect">
            <a:avLst/>
          </a:prstGeom>
          <a:solidFill>
            <a:srgbClr val="FEF2ED"/>
          </a:solidFill>
          <a:ln w="10160"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22960" y="6103620"/>
            <a:ext cx="1024128" cy="246888"/>
          </a:xfrm>
          <a:prstGeom prst="roundRect">
            <a:avLst/>
          </a:prstGeom>
          <a:solidFill>
            <a:srgbClr val="EB6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Conclusión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93392" y="6062472"/>
            <a:ext cx="9189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30" b="0">
                <a:solidFill>
                  <a:srgbClr val="090E2A"/>
                </a:solidFill>
                <a:latin typeface="Aptos"/>
              </a:rPr>
              <a:t>El modelo funciona bien para la mayoría de los casos, pero las valuaciones extremas generan outliers que elevan fuertemente el error.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C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Rectangle 283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EB6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694944" y="329184"/>
            <a:ext cx="7680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90E2A"/>
                </a:solidFill>
                <a:latin typeface="Aptos Display"/>
              </a:rPr>
              <a:t>Conclusiones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713232" y="914400"/>
            <a:ext cx="9601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>
                <a:solidFill>
                  <a:srgbClr val="505050"/>
                </a:solidFill>
              </a:rPr>
              <a:t>Resumen final de los principales hallazgos de la notebook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1192256" y="393192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5C2B91"/>
                </a:solidFill>
                <a:latin typeface="Aptos"/>
              </a:rPr>
              <a:t>15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713232" y="1444752"/>
            <a:ext cx="3493008" cy="2880360"/>
          </a:xfrm>
          <a:prstGeom prst="roundRect">
            <a:avLst/>
          </a:prstGeom>
          <a:solidFill>
            <a:srgbClr val="F5F0FA"/>
          </a:solidFill>
          <a:ln w="10160"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Oval 288"/>
          <p:cNvSpPr/>
          <p:nvPr/>
        </p:nvSpPr>
        <p:spPr>
          <a:xfrm>
            <a:off x="914400" y="1645920"/>
            <a:ext cx="457200" cy="457200"/>
          </a:xfrm>
          <a:prstGeom prst="ellipse">
            <a:avLst/>
          </a:prstGeom>
          <a:solidFill>
            <a:srgbClr val="5C2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1554480" y="1609344"/>
            <a:ext cx="246887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32323"/>
                </a:solidFill>
              </a:rPr>
              <a:t>Hallazgos descriptivos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005840" y="2249424"/>
            <a:ext cx="290779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663399"/>
                </a:solidFill>
              </a:rPr>
              <a:t>Generative AI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1005840" y="2660904"/>
            <a:ext cx="2907791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>
                <a:solidFill>
                  <a:srgbClr val="5A5A5A"/>
                </a:solidFill>
              </a:rPr>
              <a:t>mayor mediana por dominio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005840" y="2980944"/>
            <a:ext cx="290779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3C3C"/>
                </a:solidFill>
              </a:rPr>
              <a:t>India · mayor mediana por país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005840" y="3346704"/>
            <a:ext cx="2907791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>
                <a:solidFill>
                  <a:srgbClr val="373737"/>
                </a:solidFill>
              </a:rPr>
              <a:t>Post-IPO presenta la mayor mediana de valuación entre las etapas de financiamiento.</a:t>
            </a:r>
          </a:p>
        </p:txBody>
      </p:sp>
      <p:sp>
        <p:nvSpPr>
          <p:cNvPr id="295" name="Rounded Rectangle 294"/>
          <p:cNvSpPr/>
          <p:nvPr/>
        </p:nvSpPr>
        <p:spPr>
          <a:xfrm>
            <a:off x="4352544" y="1444752"/>
            <a:ext cx="3493008" cy="2880360"/>
          </a:xfrm>
          <a:prstGeom prst="roundRect">
            <a:avLst/>
          </a:prstGeom>
          <a:solidFill>
            <a:srgbClr val="FEF2ED"/>
          </a:solidFill>
          <a:ln w="10160"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Oval 295"/>
          <p:cNvSpPr/>
          <p:nvPr/>
        </p:nvSpPr>
        <p:spPr>
          <a:xfrm>
            <a:off x="4553712" y="1645920"/>
            <a:ext cx="457200" cy="457200"/>
          </a:xfrm>
          <a:prstGeom prst="ellipse">
            <a:avLst/>
          </a:prstGeom>
          <a:solidFill>
            <a:srgbClr val="EB6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5193792" y="1609344"/>
            <a:ext cx="246887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32323"/>
                </a:solidFill>
              </a:rPr>
              <a:t>Relaciones más significativas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4645152" y="2249424"/>
            <a:ext cx="290779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663399"/>
                </a:solidFill>
              </a:rPr>
              <a:t>ρ 0,960 · 0,943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4645152" y="2660904"/>
            <a:ext cx="2907791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>
                <a:solidFill>
                  <a:srgbClr val="5A5A5A"/>
                </a:solidFill>
              </a:rPr>
              <a:t>Funding · ARR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4645152" y="2980944"/>
            <a:ext cx="290779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C3C3C"/>
                </a:solidFill>
              </a:rPr>
              <a:t>Correlaciones de Spearman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4645152" y="3346704"/>
            <a:ext cx="2907791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>
                <a:solidFill>
                  <a:srgbClr val="373737"/>
                </a:solidFill>
              </a:rPr>
              <a:t>Funding y ARR son las variables con mayor asociación con la valuación dentro del dataset.</a:t>
            </a:r>
          </a:p>
        </p:txBody>
      </p:sp>
      <p:sp>
        <p:nvSpPr>
          <p:cNvPr id="302" name="Rounded Rectangle 301"/>
          <p:cNvSpPr/>
          <p:nvPr/>
        </p:nvSpPr>
        <p:spPr>
          <a:xfrm>
            <a:off x="7991856" y="1444752"/>
            <a:ext cx="3493008" cy="2880360"/>
          </a:xfrm>
          <a:prstGeom prst="roundRect">
            <a:avLst/>
          </a:prstGeom>
          <a:solidFill>
            <a:srgbClr val="ECF8F8"/>
          </a:solidFill>
          <a:ln w="10160"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Oval 302"/>
          <p:cNvSpPr/>
          <p:nvPr/>
        </p:nvSpPr>
        <p:spPr>
          <a:xfrm>
            <a:off x="8193024" y="1645920"/>
            <a:ext cx="457200" cy="457200"/>
          </a:xfrm>
          <a:prstGeom prst="ellipse">
            <a:avLst/>
          </a:prstGeom>
          <a:solidFill>
            <a:srgbClr val="19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8833104" y="1609344"/>
            <a:ext cx="246887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</a:rPr>
              <a:t>Mejor modelo: Gradient Boosting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8284464" y="2249424"/>
            <a:ext cx="290779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663399"/>
                </a:solidFill>
              </a:rPr>
              <a:t>R² log 0,973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8284464" y="2660904"/>
            <a:ext cx="2907791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>
                <a:solidFill>
                  <a:srgbClr val="5A5A5A"/>
                </a:solidFill>
              </a:rPr>
              <a:t>R² original 0,874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8284464" y="2980944"/>
            <a:ext cx="290779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3C3C3C"/>
                </a:solidFill>
              </a:rPr>
              <a:t>MAE USD 111 M · RMSE USD 768 M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8284464" y="3346704"/>
            <a:ext cx="2907791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>
                <a:solidFill>
                  <a:srgbClr val="373737"/>
                </a:solidFill>
              </a:rPr>
              <a:t>El modelo logra alta capacidad predictiva, aunque los errores crecen en valuaciones extremas.</a:t>
            </a:r>
          </a:p>
        </p:txBody>
      </p:sp>
      <p:sp>
        <p:nvSpPr>
          <p:cNvPr id="309" name="Rounded Rectangle 308"/>
          <p:cNvSpPr/>
          <p:nvPr/>
        </p:nvSpPr>
        <p:spPr>
          <a:xfrm>
            <a:off x="713232" y="4572000"/>
            <a:ext cx="10771632" cy="11155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0" name="TextBox 309"/>
          <p:cNvSpPr txBox="1"/>
          <p:nvPr/>
        </p:nvSpPr>
        <p:spPr>
          <a:xfrm>
            <a:off x="932688" y="4681728"/>
            <a:ext cx="1965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663399"/>
                </a:solidFill>
              </a:rPr>
              <a:t>Conclusión general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932688" y="4983480"/>
            <a:ext cx="1014984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323"/>
                </a:solidFill>
              </a:rPr>
              <a:t>En este dataset, la valuación se relaciona principalmente con el nivel de financiamiento, el ARR y la etapa de madurez. Gradient Boosting captura bien estos patrones y muestra un desempeño estable.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868680" y="5806440"/>
            <a:ext cx="10469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>
                <a:solidFill>
                  <a:srgbClr val="505050"/>
                </a:solidFill>
              </a:rPr>
              <a:t>Los resultados muestran asociaciones y capacidad predictiva; no implican causalidad. Al tratarse de un dataset sintético, no deben generalizarse directamente al mercado real.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731520" y="6144768"/>
            <a:ext cx="3200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5C2B91"/>
                </a:solidFill>
                <a:latin typeface="Aptos Display"/>
              </a:rPr>
              <a:t>¿Preguntas?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9281160" y="6419088"/>
            <a:ext cx="2240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69" b="0">
                <a:solidFill>
                  <a:srgbClr val="5F677A"/>
                </a:solidFill>
                <a:latin typeface="Aptos"/>
              </a:rPr>
              <a:t>Global Tech Startups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1715</Words>
  <Application>Microsoft Office PowerPoint</Application>
  <PresentationFormat>Widescreen</PresentationFormat>
  <Paragraphs>260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Verdana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silvina cecilia paredes</cp:lastModifiedBy>
  <cp:revision>2</cp:revision>
  <dcterms:modified xsi:type="dcterms:W3CDTF">2026-09-20T23:56:04Z</dcterms:modified>
</cp:coreProperties>
</file>